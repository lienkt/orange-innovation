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65960"/>
            <a:ext cx="10058400" cy="365760"/>
          </a:xfrm>
          <a:prstGeom prst="rect">
            <a:avLst/>
          </a:prstGeom>
          <a:noFill/>
        </p:spPr>
        <p:txBody>
          <a:bodyPr wrap="square" anchor="t" lIns="0" rIns="0" tIns="0" bIns="0">
            <a:spAutoFit/>
          </a:bodyPr>
          <a:lstStyle/>
          <a:p>
            <a:pPr algn="l">
              <a:lnSpc>
                <a:spcPct val="118000"/>
              </a:lnSpc>
            </a:pPr>
            <a:r>
              <a:rPr sz="1300" b="1">
                <a:solidFill>
                  <a:srgbClr val="F07000"/>
                </a:solidFill>
                <a:latin typeface="Helvetica Neue"/>
              </a:rPr>
              <a:t>ORANGE BUSINESS</a:t>
            </a:r>
          </a:p>
        </p:txBody>
      </p:sp>
      <p:sp>
        <p:nvSpPr>
          <p:cNvPr id="5" name="TextBox 4"/>
          <p:cNvSpPr txBox="1"/>
          <p:nvPr/>
        </p:nvSpPr>
        <p:spPr>
          <a:xfrm>
            <a:off x="1005840" y="2377440"/>
            <a:ext cx="10058400" cy="1280160"/>
          </a:xfrm>
          <a:prstGeom prst="rect">
            <a:avLst/>
          </a:prstGeom>
          <a:noFill/>
        </p:spPr>
        <p:txBody>
          <a:bodyPr wrap="square" anchor="t" lIns="0" rIns="0" tIns="0" bIns="0">
            <a:spAutoFit/>
          </a:bodyPr>
          <a:lstStyle/>
          <a:p>
            <a:pPr algn="l">
              <a:lnSpc>
                <a:spcPct val="105000"/>
              </a:lnSpc>
            </a:pPr>
            <a:r>
              <a:rPr sz="4800" b="1">
                <a:solidFill>
                  <a:srgbClr val="FFFFFF"/>
                </a:solidFill>
                <a:latin typeface="Helvetica Neue"/>
              </a:rPr>
              <a:t>Opportunity Spaces
Innovation Radar</a:t>
            </a:r>
          </a:p>
        </p:txBody>
      </p:sp>
      <p:sp>
        <p:nvSpPr>
          <p:cNvPr id="6" name="TextBox 5"/>
          <p:cNvSpPr txBox="1"/>
          <p:nvPr/>
        </p:nvSpPr>
        <p:spPr>
          <a:xfrm>
            <a:off x="1005840" y="3977639"/>
            <a:ext cx="9144000" cy="822960"/>
          </a:xfrm>
          <a:prstGeom prst="rect">
            <a:avLst/>
          </a:prstGeom>
          <a:noFill/>
        </p:spPr>
        <p:txBody>
          <a:bodyPr wrap="square" anchor="t" lIns="0" rIns="0" tIns="0" bIns="0">
            <a:spAutoFit/>
          </a:bodyPr>
          <a:lstStyle/>
          <a:p>
            <a:pPr algn="l">
              <a:lnSpc>
                <a:spcPct val="118000"/>
              </a:lnSpc>
            </a:pPr>
            <a:r>
              <a:rPr sz="1500" b="0">
                <a:solidFill>
                  <a:srgbClr val="C3C2B7"/>
                </a:solidFill>
                <a:latin typeface="Helvetica Neue"/>
              </a:rPr>
              <a:t>A regularly refreshed view of specific innovation opportunities — each scored on how attractive it is, how urgent the window is, and how strong Orange's right to win is.</a:t>
            </a:r>
          </a:p>
        </p:txBody>
      </p:sp>
      <p:sp>
        <p:nvSpPr>
          <p:cNvPr id="7" name="TextBox 6"/>
          <p:cNvSpPr txBox="1"/>
          <p:nvPr/>
        </p:nvSpPr>
        <p:spPr>
          <a:xfrm>
            <a:off x="1005840" y="5120640"/>
            <a:ext cx="10058400" cy="365760"/>
          </a:xfrm>
          <a:prstGeom prst="rect">
            <a:avLst/>
          </a:prstGeom>
          <a:noFill/>
        </p:spPr>
        <p:txBody>
          <a:bodyPr wrap="square" anchor="t" lIns="0" rIns="0" tIns="0" bIns="0">
            <a:spAutoFit/>
          </a:bodyPr>
          <a:lstStyle/>
          <a:p>
            <a:pPr algn="l">
              <a:lnSpc>
                <a:spcPct val="118000"/>
              </a:lnSpc>
            </a:pPr>
            <a:r>
              <a:rPr sz="1300" b="1">
                <a:solidFill>
                  <a:srgbClr val="FFFFFF"/>
                </a:solidFill>
                <a:latin typeface="Helvetica Neue"/>
              </a:rPr>
              <a:t>MVP walkthrough</a:t>
            </a:r>
            <a:r>
              <a:rPr sz="1300" b="0">
                <a:solidFill>
                  <a:srgbClr val="6B6963"/>
                </a:solidFill>
                <a:latin typeface="Helvetica Neue"/>
              </a:rPr>
              <a:t>   ·   concepts · functionality ·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WHY</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The problem is not a shortage of information</a:t>
            </a:r>
          </a:p>
        </p:txBody>
      </p:sp>
      <p:sp>
        <p:nvSpPr>
          <p:cNvPr id="5" name="TextBox 4"/>
          <p:cNvSpPr txBox="1"/>
          <p:nvPr/>
        </p:nvSpPr>
        <p:spPr>
          <a:xfrm>
            <a:off x="685800" y="1737360"/>
            <a:ext cx="5486400" cy="2011680"/>
          </a:xfrm>
          <a:prstGeom prst="rect">
            <a:avLst/>
          </a:prstGeom>
          <a:noFill/>
        </p:spPr>
        <p:txBody>
          <a:bodyPr wrap="square" anchor="t" lIns="0" rIns="0" tIns="0" bIns="0">
            <a:spAutoFit/>
          </a:bodyPr>
          <a:lstStyle/>
          <a:p>
            <a:pPr algn="l">
              <a:lnSpc>
                <a:spcPct val="130000"/>
              </a:lnSpc>
            </a:pPr>
            <a:r>
              <a:rPr sz="1900" b="0">
                <a:solidFill>
                  <a:srgbClr val="0B0B0B"/>
                </a:solidFill>
                <a:latin typeface="Helvetica Neue"/>
              </a:rPr>
              <a:t>The available information about technology is generic, undated, unsourced — and disconnected from what Orange can actually sell.</a:t>
            </a:r>
          </a:p>
        </p:txBody>
      </p:sp>
      <p:sp>
        <p:nvSpPr>
          <p:cNvPr id="6" name="TextBox 5"/>
          <p:cNvSpPr txBox="1"/>
          <p:nvPr/>
        </p:nvSpPr>
        <p:spPr>
          <a:xfrm>
            <a:off x="685800" y="3108960"/>
            <a:ext cx="5486400" cy="2194560"/>
          </a:xfrm>
          <a:prstGeom prst="rect">
            <a:avLst/>
          </a:prstGeom>
          <a:noFill/>
        </p:spPr>
        <p:txBody>
          <a:bodyPr wrap="square" anchor="t" lIns="0" rIns="0" tIns="0" bIns="0">
            <a:spAutoFit/>
          </a:bodyPr>
          <a:lstStyle/>
          <a:p>
            <a:pPr algn="l">
              <a:lnSpc>
                <a:spcPct val="135000"/>
              </a:lnSpc>
            </a:pPr>
            <a:r>
              <a:rPr sz="1500" b="0">
                <a:solidFill>
                  <a:srgbClr val="6B6963"/>
                </a:solidFill>
                <a:latin typeface="Helvetica Neue"/>
              </a:rPr>
              <a:t>The radar's value is the join between an external signal and an internal asset, expressed at a level of specificity a salesperson can use in a meeting on Thursday.</a:t>
            </a:r>
          </a:p>
        </p:txBody>
      </p:sp>
      <p:sp>
        <p:nvSpPr>
          <p:cNvPr id="7" name="Rectangle 6"/>
          <p:cNvSpPr/>
          <p:nvPr/>
        </p:nvSpPr>
        <p:spPr>
          <a:xfrm>
            <a:off x="6583680" y="1645920"/>
            <a:ext cx="4937760" cy="32004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920240"/>
            <a:ext cx="4389120" cy="274320"/>
          </a:xfrm>
          <a:prstGeom prst="rect">
            <a:avLst/>
          </a:prstGeom>
          <a:noFill/>
        </p:spPr>
        <p:txBody>
          <a:bodyPr wrap="square" anchor="t" lIns="0" rIns="0" tIns="0" bIns="0">
            <a:spAutoFit/>
          </a:bodyPr>
          <a:lstStyle/>
          <a:p>
            <a:pPr algn="l">
              <a:lnSpc>
                <a:spcPct val="118000"/>
              </a:lnSpc>
            </a:pPr>
            <a:r>
              <a:rPr sz="1000" b="1">
                <a:solidFill>
                  <a:srgbClr val="D03B3B"/>
                </a:solidFill>
                <a:latin typeface="Helvetica Neue"/>
              </a:rPr>
              <a:t>REJECTED AS TOPICS</a:t>
            </a:r>
          </a:p>
        </p:txBody>
      </p:sp>
      <p:sp>
        <p:nvSpPr>
          <p:cNvPr id="9" name="TextBox 8"/>
          <p:cNvSpPr txBox="1"/>
          <p:nvPr/>
        </p:nvSpPr>
        <p:spPr>
          <a:xfrm>
            <a:off x="6858000" y="2304288"/>
            <a:ext cx="4389120" cy="365760"/>
          </a:xfrm>
          <a:prstGeom prst="rect">
            <a:avLst/>
          </a:prstGeom>
          <a:noFill/>
        </p:spPr>
        <p:txBody>
          <a:bodyPr wrap="square" anchor="t" lIns="0" rIns="0" tIns="0" bIns="0">
            <a:spAutoFit/>
          </a:bodyPr>
          <a:lstStyle/>
          <a:p>
            <a:pPr algn="l">
              <a:lnSpc>
                <a:spcPct val="118000"/>
              </a:lnSpc>
            </a:pPr>
            <a:r>
              <a:rPr sz="1500" b="0">
                <a:solidFill>
                  <a:srgbClr val="0B0B0B"/>
                </a:solidFill>
                <a:latin typeface="Helvetica Neue"/>
              </a:rPr>
              <a:t>"AI"</a:t>
            </a:r>
          </a:p>
        </p:txBody>
      </p:sp>
      <p:sp>
        <p:nvSpPr>
          <p:cNvPr id="10" name="TextBox 9"/>
          <p:cNvSpPr txBox="1"/>
          <p:nvPr/>
        </p:nvSpPr>
        <p:spPr>
          <a:xfrm>
            <a:off x="6858000" y="2633472"/>
            <a:ext cx="4389120" cy="365760"/>
          </a:xfrm>
          <a:prstGeom prst="rect">
            <a:avLst/>
          </a:prstGeom>
          <a:noFill/>
        </p:spPr>
        <p:txBody>
          <a:bodyPr wrap="square" anchor="t" lIns="0" rIns="0" tIns="0" bIns="0">
            <a:spAutoFit/>
          </a:bodyPr>
          <a:lstStyle/>
          <a:p>
            <a:pPr algn="l">
              <a:lnSpc>
                <a:spcPct val="118000"/>
              </a:lnSpc>
            </a:pPr>
            <a:r>
              <a:rPr sz="1500" b="0">
                <a:solidFill>
                  <a:srgbClr val="0B0B0B"/>
                </a:solidFill>
                <a:latin typeface="Helvetica Neue"/>
              </a:rPr>
              <a:t>"Cloud"</a:t>
            </a:r>
          </a:p>
        </p:txBody>
      </p:sp>
      <p:sp>
        <p:nvSpPr>
          <p:cNvPr id="11" name="TextBox 10"/>
          <p:cNvSpPr txBox="1"/>
          <p:nvPr/>
        </p:nvSpPr>
        <p:spPr>
          <a:xfrm>
            <a:off x="6858000" y="2962656"/>
            <a:ext cx="4389120" cy="365760"/>
          </a:xfrm>
          <a:prstGeom prst="rect">
            <a:avLst/>
          </a:prstGeom>
          <a:noFill/>
        </p:spPr>
        <p:txBody>
          <a:bodyPr wrap="square" anchor="t" lIns="0" rIns="0" tIns="0" bIns="0">
            <a:spAutoFit/>
          </a:bodyPr>
          <a:lstStyle/>
          <a:p>
            <a:pPr algn="l">
              <a:lnSpc>
                <a:spcPct val="118000"/>
              </a:lnSpc>
            </a:pPr>
            <a:r>
              <a:rPr sz="1500" b="0">
                <a:solidFill>
                  <a:srgbClr val="0B0B0B"/>
                </a:solidFill>
                <a:latin typeface="Helvetica Neue"/>
              </a:rPr>
              <a:t>"Cybersecurity"</a:t>
            </a:r>
          </a:p>
        </p:txBody>
      </p:sp>
      <p:sp>
        <p:nvSpPr>
          <p:cNvPr id="12" name="TextBox 11"/>
          <p:cNvSpPr txBox="1"/>
          <p:nvPr/>
        </p:nvSpPr>
        <p:spPr>
          <a:xfrm>
            <a:off x="6858000" y="3291840"/>
            <a:ext cx="4389120" cy="365760"/>
          </a:xfrm>
          <a:prstGeom prst="rect">
            <a:avLst/>
          </a:prstGeom>
          <a:noFill/>
        </p:spPr>
        <p:txBody>
          <a:bodyPr wrap="square" anchor="t" lIns="0" rIns="0" tIns="0" bIns="0">
            <a:spAutoFit/>
          </a:bodyPr>
          <a:lstStyle/>
          <a:p>
            <a:pPr algn="l">
              <a:lnSpc>
                <a:spcPct val="118000"/>
              </a:lnSpc>
            </a:pPr>
            <a:r>
              <a:rPr sz="1500" b="0">
                <a:solidFill>
                  <a:srgbClr val="0B0B0B"/>
                </a:solidFill>
                <a:latin typeface="Helvetica Neue"/>
              </a:rPr>
              <a:t>"Digital transformation in retail"</a:t>
            </a:r>
          </a:p>
        </p:txBody>
      </p:sp>
      <p:sp>
        <p:nvSpPr>
          <p:cNvPr id="13" name="TextBox 12"/>
          <p:cNvSpPr txBox="1"/>
          <p:nvPr/>
        </p:nvSpPr>
        <p:spPr>
          <a:xfrm>
            <a:off x="6858000" y="3703320"/>
            <a:ext cx="4389120" cy="274320"/>
          </a:xfrm>
          <a:prstGeom prst="rect">
            <a:avLst/>
          </a:prstGeom>
          <a:noFill/>
        </p:spPr>
        <p:txBody>
          <a:bodyPr wrap="square" anchor="t" lIns="0" rIns="0" tIns="0" bIns="0">
            <a:spAutoFit/>
          </a:bodyPr>
          <a:lstStyle/>
          <a:p>
            <a:pPr algn="l">
              <a:lnSpc>
                <a:spcPct val="118000"/>
              </a:lnSpc>
            </a:pPr>
            <a:r>
              <a:rPr sz="1000" b="1">
                <a:solidFill>
                  <a:srgbClr val="0CA30C"/>
                </a:solidFill>
                <a:latin typeface="Helvetica Neue"/>
              </a:rPr>
              <a:t>WHAT A TOPIC MUST LOOK LIKE</a:t>
            </a:r>
          </a:p>
        </p:txBody>
      </p:sp>
      <p:sp>
        <p:nvSpPr>
          <p:cNvPr id="14" name="TextBox 13"/>
          <p:cNvSpPr txBox="1"/>
          <p:nvPr/>
        </p:nvSpPr>
        <p:spPr>
          <a:xfrm>
            <a:off x="6858000" y="4023360"/>
            <a:ext cx="4389120" cy="7315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Private 5G plus edge vision for safety compliance in mining</a:t>
            </a:r>
          </a:p>
        </p:txBody>
      </p:sp>
      <p:sp>
        <p:nvSpPr>
          <p:cNvPr id="15" name="TextBox 14"/>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6" name="TextBox 15"/>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An opportunity space is a triple</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Identity is the triple. The statement is a rendering of it — both are stored.</a:t>
            </a:r>
          </a:p>
        </p:txBody>
      </p:sp>
      <p:sp>
        <p:nvSpPr>
          <p:cNvPr id="6" name="Rectangle 5"/>
          <p:cNvSpPr/>
          <p:nvPr/>
        </p:nvSpPr>
        <p:spPr>
          <a:xfrm>
            <a:off x="685800" y="2148840"/>
            <a:ext cx="3063240" cy="13716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2606040" cy="274320"/>
          </a:xfrm>
          <a:prstGeom prst="rect">
            <a:avLst/>
          </a:prstGeom>
          <a:noFill/>
        </p:spPr>
        <p:txBody>
          <a:bodyPr wrap="square" anchor="t" lIns="0" rIns="0" tIns="0" bIns="0">
            <a:spAutoFit/>
          </a:bodyPr>
          <a:lstStyle/>
          <a:p>
            <a:pPr algn="l">
              <a:lnSpc>
                <a:spcPct val="118000"/>
              </a:lnSpc>
            </a:pPr>
            <a:r>
              <a:rPr sz="1000" b="1">
                <a:solidFill>
                  <a:srgbClr val="F07000"/>
                </a:solidFill>
                <a:latin typeface="Helvetica Neue"/>
              </a:rPr>
              <a:t>VERTICAL</a:t>
            </a:r>
          </a:p>
        </p:txBody>
      </p:sp>
      <p:sp>
        <p:nvSpPr>
          <p:cNvPr id="8" name="TextBox 7"/>
          <p:cNvSpPr txBox="1"/>
          <p:nvPr/>
        </p:nvSpPr>
        <p:spPr>
          <a:xfrm>
            <a:off x="914400" y="2715768"/>
            <a:ext cx="2606040" cy="640080"/>
          </a:xfrm>
          <a:prstGeom prst="rect">
            <a:avLst/>
          </a:prstGeom>
          <a:noFill/>
        </p:spPr>
        <p:txBody>
          <a:bodyPr wrap="square" anchor="t" lIns="0" rIns="0" tIns="0" bIns="0">
            <a:spAutoFit/>
          </a:bodyPr>
          <a:lstStyle/>
          <a:p>
            <a:pPr algn="l">
              <a:lnSpc>
                <a:spcPct val="118000"/>
              </a:lnSpc>
            </a:pPr>
            <a:r>
              <a:rPr sz="1800" b="1">
                <a:solidFill>
                  <a:srgbClr val="0B0B0B"/>
                </a:solidFill>
                <a:latin typeface="Helvetica Neue"/>
              </a:rPr>
              <a:t>Manufacturing</a:t>
            </a:r>
          </a:p>
        </p:txBody>
      </p:sp>
      <p:sp>
        <p:nvSpPr>
          <p:cNvPr id="9" name="TextBox 8"/>
          <p:cNvSpPr txBox="1"/>
          <p:nvPr/>
        </p:nvSpPr>
        <p:spPr>
          <a:xfrm>
            <a:off x="3867912" y="2606040"/>
            <a:ext cx="274320" cy="365760"/>
          </a:xfrm>
          <a:prstGeom prst="rect">
            <a:avLst/>
          </a:prstGeom>
          <a:noFill/>
        </p:spPr>
        <p:txBody>
          <a:bodyPr wrap="square" anchor="t" lIns="0" rIns="0" tIns="0" bIns="0">
            <a:spAutoFit/>
          </a:bodyPr>
          <a:lstStyle/>
          <a:p>
            <a:pPr algn="l">
              <a:lnSpc>
                <a:spcPct val="118000"/>
              </a:lnSpc>
            </a:pPr>
            <a:r>
              <a:rPr sz="2400" b="1">
                <a:solidFill>
                  <a:srgbClr val="6B6963"/>
                </a:solidFill>
                <a:latin typeface="Helvetica Neue"/>
              </a:rPr>
              <a:t>×</a:t>
            </a:r>
          </a:p>
        </p:txBody>
      </p:sp>
      <p:sp>
        <p:nvSpPr>
          <p:cNvPr id="10" name="Rectangle 9"/>
          <p:cNvSpPr/>
          <p:nvPr/>
        </p:nvSpPr>
        <p:spPr>
          <a:xfrm>
            <a:off x="4206240" y="2148840"/>
            <a:ext cx="3063240" cy="13716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377440"/>
            <a:ext cx="2606040" cy="274320"/>
          </a:xfrm>
          <a:prstGeom prst="rect">
            <a:avLst/>
          </a:prstGeom>
          <a:noFill/>
        </p:spPr>
        <p:txBody>
          <a:bodyPr wrap="square" anchor="t" lIns="0" rIns="0" tIns="0" bIns="0">
            <a:spAutoFit/>
          </a:bodyPr>
          <a:lstStyle/>
          <a:p>
            <a:pPr algn="l">
              <a:lnSpc>
                <a:spcPct val="118000"/>
              </a:lnSpc>
            </a:pPr>
            <a:r>
              <a:rPr sz="1000" b="1">
                <a:solidFill>
                  <a:srgbClr val="F07000"/>
                </a:solidFill>
                <a:latin typeface="Helvetica Neue"/>
              </a:rPr>
              <a:t>USE CASE</a:t>
            </a:r>
          </a:p>
        </p:txBody>
      </p:sp>
      <p:sp>
        <p:nvSpPr>
          <p:cNvPr id="12" name="TextBox 11"/>
          <p:cNvSpPr txBox="1"/>
          <p:nvPr/>
        </p:nvSpPr>
        <p:spPr>
          <a:xfrm>
            <a:off x="4434840" y="2715768"/>
            <a:ext cx="2606040" cy="640080"/>
          </a:xfrm>
          <a:prstGeom prst="rect">
            <a:avLst/>
          </a:prstGeom>
          <a:noFill/>
        </p:spPr>
        <p:txBody>
          <a:bodyPr wrap="square" anchor="t" lIns="0" rIns="0" tIns="0" bIns="0">
            <a:spAutoFit/>
          </a:bodyPr>
          <a:lstStyle/>
          <a:p>
            <a:pPr algn="l">
              <a:lnSpc>
                <a:spcPct val="118000"/>
              </a:lnSpc>
            </a:pPr>
            <a:r>
              <a:rPr sz="1800" b="1">
                <a:solidFill>
                  <a:srgbClr val="0B0B0B"/>
                </a:solidFill>
                <a:latin typeface="Helvetica Neue"/>
              </a:rPr>
              <a:t>OT / ICS security</a:t>
            </a:r>
          </a:p>
        </p:txBody>
      </p:sp>
      <p:sp>
        <p:nvSpPr>
          <p:cNvPr id="13" name="TextBox 12"/>
          <p:cNvSpPr txBox="1"/>
          <p:nvPr/>
        </p:nvSpPr>
        <p:spPr>
          <a:xfrm>
            <a:off x="7388352" y="2606040"/>
            <a:ext cx="274320" cy="365760"/>
          </a:xfrm>
          <a:prstGeom prst="rect">
            <a:avLst/>
          </a:prstGeom>
          <a:noFill/>
        </p:spPr>
        <p:txBody>
          <a:bodyPr wrap="square" anchor="t" lIns="0" rIns="0" tIns="0" bIns="0">
            <a:spAutoFit/>
          </a:bodyPr>
          <a:lstStyle/>
          <a:p>
            <a:pPr algn="l">
              <a:lnSpc>
                <a:spcPct val="118000"/>
              </a:lnSpc>
            </a:pPr>
            <a:r>
              <a:rPr sz="2400" b="1">
                <a:solidFill>
                  <a:srgbClr val="6B6963"/>
                </a:solidFill>
                <a:latin typeface="Helvetica Neue"/>
              </a:rPr>
              <a:t>×</a:t>
            </a:r>
          </a:p>
        </p:txBody>
      </p:sp>
      <p:sp>
        <p:nvSpPr>
          <p:cNvPr id="14" name="Rectangle 13"/>
          <p:cNvSpPr/>
          <p:nvPr/>
        </p:nvSpPr>
        <p:spPr>
          <a:xfrm>
            <a:off x="7726680" y="2148840"/>
            <a:ext cx="3063240" cy="13716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0" y="2377440"/>
            <a:ext cx="2606040" cy="274320"/>
          </a:xfrm>
          <a:prstGeom prst="rect">
            <a:avLst/>
          </a:prstGeom>
          <a:noFill/>
        </p:spPr>
        <p:txBody>
          <a:bodyPr wrap="square" anchor="t" lIns="0" rIns="0" tIns="0" bIns="0">
            <a:spAutoFit/>
          </a:bodyPr>
          <a:lstStyle/>
          <a:p>
            <a:pPr algn="l">
              <a:lnSpc>
                <a:spcPct val="118000"/>
              </a:lnSpc>
            </a:pPr>
            <a:r>
              <a:rPr sz="1000" b="1">
                <a:solidFill>
                  <a:srgbClr val="F07000"/>
                </a:solidFill>
                <a:latin typeface="Helvetica Neue"/>
              </a:rPr>
              <a:t>TECHNOLOGY</a:t>
            </a:r>
          </a:p>
        </p:txBody>
      </p:sp>
      <p:sp>
        <p:nvSpPr>
          <p:cNvPr id="16" name="TextBox 15"/>
          <p:cNvSpPr txBox="1"/>
          <p:nvPr/>
        </p:nvSpPr>
        <p:spPr>
          <a:xfrm>
            <a:off x="7955280" y="2715768"/>
            <a:ext cx="2606040" cy="640080"/>
          </a:xfrm>
          <a:prstGeom prst="rect">
            <a:avLst/>
          </a:prstGeom>
          <a:noFill/>
        </p:spPr>
        <p:txBody>
          <a:bodyPr wrap="square" anchor="t" lIns="0" rIns="0" tIns="0" bIns="0">
            <a:spAutoFit/>
          </a:bodyPr>
          <a:lstStyle/>
          <a:p>
            <a:pPr algn="l">
              <a:lnSpc>
                <a:spcPct val="118000"/>
              </a:lnSpc>
            </a:pPr>
            <a:r>
              <a:rPr sz="1800" b="1">
                <a:solidFill>
                  <a:srgbClr val="0B0B0B"/>
                </a:solidFill>
                <a:latin typeface="Helvetica Neue"/>
              </a:rPr>
              <a:t>SIEM and SOAR</a:t>
            </a:r>
          </a:p>
        </p:txBody>
      </p:sp>
      <p:sp>
        <p:nvSpPr>
          <p:cNvPr id="17" name="Rectangle 16"/>
          <p:cNvSpPr/>
          <p:nvPr/>
        </p:nvSpPr>
        <p:spPr>
          <a:xfrm>
            <a:off x="685800" y="3931920"/>
            <a:ext cx="10881360" cy="914400"/>
          </a:xfrm>
          <a:prstGeom prst="rect">
            <a:avLst/>
          </a:prstGeom>
          <a:noFill/>
          <a:ln w="19050">
            <a:solidFill>
              <a:srgbClr val="F07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160520"/>
            <a:ext cx="10332720" cy="548640"/>
          </a:xfrm>
          <a:prstGeom prst="rect">
            <a:avLst/>
          </a:prstGeom>
          <a:noFill/>
        </p:spPr>
        <p:txBody>
          <a:bodyPr wrap="square" anchor="t" lIns="0" rIns="0" tIns="0" bIns="0">
            <a:spAutoFit/>
          </a:bodyPr>
          <a:lstStyle/>
          <a:p>
            <a:pPr algn="l">
              <a:lnSpc>
                <a:spcPct val="118000"/>
              </a:lnSpc>
            </a:pPr>
            <a:r>
              <a:rPr sz="1700" b="1">
                <a:solidFill>
                  <a:srgbClr val="0B0B0B"/>
                </a:solidFill>
                <a:latin typeface="Helvetica Neue"/>
              </a:rPr>
              <a:t>SIEM/SOAR-based OT security analytics for legacy SCADA and ICS in brownfield manufacturing sites.</a:t>
            </a:r>
          </a:p>
        </p:txBody>
      </p:sp>
      <p:sp>
        <p:nvSpPr>
          <p:cNvPr id="19" name="TextBox 18"/>
          <p:cNvSpPr txBox="1"/>
          <p:nvPr/>
        </p:nvSpPr>
        <p:spPr>
          <a:xfrm>
            <a:off x="685800" y="502920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The triple gives deduplication and filtering. The statement gives the specificity a salesperson needs. A candidate that does not resolve to exactly one of each fails validation.</a:t>
            </a:r>
          </a:p>
        </p:txBody>
      </p:sp>
      <p:sp>
        <p:nvSpPr>
          <p:cNvPr id="20" name="TextBox 19"/>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1" name="TextBox 20"/>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Two scores, never one</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They answer different questions and are owned by different people.</a:t>
            </a:r>
          </a:p>
        </p:txBody>
      </p:sp>
      <p:sp>
        <p:nvSpPr>
          <p:cNvPr id="6" name="Rectangle 5"/>
          <p:cNvSpPr/>
          <p:nvPr/>
        </p:nvSpPr>
        <p:spPr>
          <a:xfrm>
            <a:off x="685800" y="2148840"/>
            <a:ext cx="3520440" cy="306324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148840"/>
            <a:ext cx="3520440" cy="6400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441448"/>
            <a:ext cx="3008376"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ATTRACTIVENESS</a:t>
            </a:r>
          </a:p>
        </p:txBody>
      </p:sp>
      <p:sp>
        <p:nvSpPr>
          <p:cNvPr id="9" name="TextBox 8"/>
          <p:cNvSpPr txBox="1"/>
          <p:nvPr/>
        </p:nvSpPr>
        <p:spPr>
          <a:xfrm>
            <a:off x="941832" y="2752344"/>
            <a:ext cx="3008376" cy="365760"/>
          </a:xfrm>
          <a:prstGeom prst="rect">
            <a:avLst/>
          </a:prstGeom>
          <a:noFill/>
        </p:spPr>
        <p:txBody>
          <a:bodyPr wrap="square" anchor="t" lIns="0" rIns="0" tIns="0" bIns="0">
            <a:spAutoFit/>
          </a:bodyPr>
          <a:lstStyle/>
          <a:p>
            <a:pPr algn="l">
              <a:lnSpc>
                <a:spcPct val="118000"/>
              </a:lnSpc>
            </a:pPr>
            <a:r>
              <a:rPr sz="1600" b="1">
                <a:solidFill>
                  <a:srgbClr val="0B0B0B"/>
                </a:solidFill>
                <a:latin typeface="Helvetica Neue"/>
              </a:rPr>
              <a:t>Is the world moving?</a:t>
            </a:r>
          </a:p>
        </p:txBody>
      </p:sp>
      <p:sp>
        <p:nvSpPr>
          <p:cNvPr id="10" name="TextBox 9"/>
          <p:cNvSpPr txBox="1"/>
          <p:nvPr/>
        </p:nvSpPr>
        <p:spPr>
          <a:xfrm>
            <a:off x="941832" y="3246120"/>
            <a:ext cx="3008376" cy="118872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Market signal strength · Source diversity · Evidence quality · Novelty and momentum · Strategic relevance</a:t>
            </a:r>
          </a:p>
        </p:txBody>
      </p:sp>
      <p:sp>
        <p:nvSpPr>
          <p:cNvPr id="11" name="TextBox 10"/>
          <p:cNvSpPr txBox="1"/>
          <p:nvPr/>
        </p:nvSpPr>
        <p:spPr>
          <a:xfrm>
            <a:off x="941832" y="4544568"/>
            <a:ext cx="3008376" cy="548640"/>
          </a:xfrm>
          <a:prstGeom prst="rect">
            <a:avLst/>
          </a:prstGeom>
          <a:noFill/>
        </p:spPr>
        <p:txBody>
          <a:bodyPr wrap="square" anchor="t" lIns="0" rIns="0" tIns="0" bIns="0">
            <a:spAutoFit/>
          </a:bodyPr>
          <a:lstStyle/>
          <a:p>
            <a:pPr algn="l">
              <a:lnSpc>
                <a:spcPct val="125000"/>
              </a:lnSpc>
            </a:pPr>
            <a:r>
              <a:rPr sz="1050" b="0">
                <a:solidFill>
                  <a:srgbClr val="0B0B0B"/>
                </a:solidFill>
                <a:latin typeface="Helvetica Neue"/>
              </a:rPr>
              <a:t>Computed from external evidence only.</a:t>
            </a:r>
          </a:p>
        </p:txBody>
      </p:sp>
      <p:sp>
        <p:nvSpPr>
          <p:cNvPr id="12" name="Rectangle 11"/>
          <p:cNvSpPr/>
          <p:nvPr/>
        </p:nvSpPr>
        <p:spPr>
          <a:xfrm>
            <a:off x="4462272" y="2148840"/>
            <a:ext cx="3520440" cy="306324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62272" y="2148840"/>
            <a:ext cx="352044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18304" y="2441448"/>
            <a:ext cx="3008376" cy="274320"/>
          </a:xfrm>
          <a:prstGeom prst="rect">
            <a:avLst/>
          </a:prstGeom>
          <a:noFill/>
        </p:spPr>
        <p:txBody>
          <a:bodyPr wrap="square" anchor="t" lIns="0" rIns="0" tIns="0" bIns="0">
            <a:spAutoFit/>
          </a:bodyPr>
          <a:lstStyle/>
          <a:p>
            <a:pPr algn="l">
              <a:lnSpc>
                <a:spcPct val="118000"/>
              </a:lnSpc>
            </a:pPr>
            <a:r>
              <a:rPr sz="1100" b="1">
                <a:solidFill>
                  <a:srgbClr val="2A78D6"/>
                </a:solidFill>
                <a:latin typeface="Helvetica Neue"/>
              </a:rPr>
              <a:t>RIGHT TO WIN</a:t>
            </a:r>
          </a:p>
        </p:txBody>
      </p:sp>
      <p:sp>
        <p:nvSpPr>
          <p:cNvPr id="15" name="TextBox 14"/>
          <p:cNvSpPr txBox="1"/>
          <p:nvPr/>
        </p:nvSpPr>
        <p:spPr>
          <a:xfrm>
            <a:off x="4718304" y="2752344"/>
            <a:ext cx="3008376" cy="365760"/>
          </a:xfrm>
          <a:prstGeom prst="rect">
            <a:avLst/>
          </a:prstGeom>
          <a:noFill/>
        </p:spPr>
        <p:txBody>
          <a:bodyPr wrap="square" anchor="t" lIns="0" rIns="0" tIns="0" bIns="0">
            <a:spAutoFit/>
          </a:bodyPr>
          <a:lstStyle/>
          <a:p>
            <a:pPr algn="l">
              <a:lnSpc>
                <a:spcPct val="118000"/>
              </a:lnSpc>
            </a:pPr>
            <a:r>
              <a:rPr sz="1600" b="1">
                <a:solidFill>
                  <a:srgbClr val="0B0B0B"/>
                </a:solidFill>
                <a:latin typeface="Helvetica Neue"/>
              </a:rPr>
              <a:t>Can we play, can we win?</a:t>
            </a:r>
          </a:p>
        </p:txBody>
      </p:sp>
      <p:sp>
        <p:nvSpPr>
          <p:cNvPr id="16" name="TextBox 15"/>
          <p:cNvSpPr txBox="1"/>
          <p:nvPr/>
        </p:nvSpPr>
        <p:spPr>
          <a:xfrm>
            <a:off x="4718304" y="3246120"/>
            <a:ext cx="3008376" cy="118872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Offer match · Reference density · Partner coverage · Compliance fit · Capability depth · Analyst recognition · Technology ownership</a:t>
            </a:r>
          </a:p>
        </p:txBody>
      </p:sp>
      <p:sp>
        <p:nvSpPr>
          <p:cNvPr id="17" name="TextBox 16"/>
          <p:cNvSpPr txBox="1"/>
          <p:nvPr/>
        </p:nvSpPr>
        <p:spPr>
          <a:xfrm>
            <a:off x="4718304" y="4544568"/>
            <a:ext cx="3008376" cy="548640"/>
          </a:xfrm>
          <a:prstGeom prst="rect">
            <a:avLst/>
          </a:prstGeom>
          <a:noFill/>
        </p:spPr>
        <p:txBody>
          <a:bodyPr wrap="square" anchor="t" lIns="0" rIns="0" tIns="0" bIns="0">
            <a:spAutoFit/>
          </a:bodyPr>
          <a:lstStyle/>
          <a:p>
            <a:pPr algn="l">
              <a:lnSpc>
                <a:spcPct val="125000"/>
              </a:lnSpc>
            </a:pPr>
            <a:r>
              <a:rPr sz="1050" b="0">
                <a:solidFill>
                  <a:srgbClr val="0B0B0B"/>
                </a:solidFill>
                <a:latin typeface="Helvetica Neue"/>
              </a:rPr>
              <a:t>Computed from the Orange Business Graph as named query results — never asserted by a model.</a:t>
            </a:r>
          </a:p>
        </p:txBody>
      </p:sp>
      <p:sp>
        <p:nvSpPr>
          <p:cNvPr id="18" name="Rectangle 17"/>
          <p:cNvSpPr/>
          <p:nvPr/>
        </p:nvSpPr>
        <p:spPr>
          <a:xfrm>
            <a:off x="8238744" y="2148840"/>
            <a:ext cx="3520440" cy="306324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38744" y="2148840"/>
            <a:ext cx="3520440" cy="64008"/>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94776" y="2441448"/>
            <a:ext cx="3008376" cy="274320"/>
          </a:xfrm>
          <a:prstGeom prst="rect">
            <a:avLst/>
          </a:prstGeom>
          <a:noFill/>
        </p:spPr>
        <p:txBody>
          <a:bodyPr wrap="square" anchor="t" lIns="0" rIns="0" tIns="0" bIns="0">
            <a:spAutoFit/>
          </a:bodyPr>
          <a:lstStyle/>
          <a:p>
            <a:pPr algn="l">
              <a:lnSpc>
                <a:spcPct val="118000"/>
              </a:lnSpc>
            </a:pPr>
            <a:r>
              <a:rPr sz="1100" b="1">
                <a:solidFill>
                  <a:srgbClr val="0CA30C"/>
                </a:solidFill>
                <a:latin typeface="Helvetica Neue"/>
              </a:rPr>
              <a:t>CONVICTION</a:t>
            </a:r>
          </a:p>
        </p:txBody>
      </p:sp>
      <p:sp>
        <p:nvSpPr>
          <p:cNvPr id="21" name="TextBox 20"/>
          <p:cNvSpPr txBox="1"/>
          <p:nvPr/>
        </p:nvSpPr>
        <p:spPr>
          <a:xfrm>
            <a:off x="8494776" y="2752344"/>
            <a:ext cx="3008376" cy="365760"/>
          </a:xfrm>
          <a:prstGeom prst="rect">
            <a:avLst/>
          </a:prstGeom>
          <a:noFill/>
        </p:spPr>
        <p:txBody>
          <a:bodyPr wrap="square" anchor="t" lIns="0" rIns="0" tIns="0" bIns="0">
            <a:spAutoFit/>
          </a:bodyPr>
          <a:lstStyle/>
          <a:p>
            <a:pPr algn="l">
              <a:lnSpc>
                <a:spcPct val="118000"/>
              </a:lnSpc>
            </a:pPr>
            <a:r>
              <a:rPr sz="1600" b="1">
                <a:solidFill>
                  <a:srgbClr val="0B0B0B"/>
                </a:solidFill>
                <a:latin typeface="Helvetica Neue"/>
              </a:rPr>
              <a:t>Do our own people believe it?</a:t>
            </a:r>
          </a:p>
        </p:txBody>
      </p:sp>
      <p:sp>
        <p:nvSpPr>
          <p:cNvPr id="22" name="TextBox 21"/>
          <p:cNvSpPr txBox="1"/>
          <p:nvPr/>
        </p:nvSpPr>
        <p:spPr>
          <a:xfrm>
            <a:off x="8494776" y="3246120"/>
            <a:ext cx="3008376" cy="118872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Strategic fit (strategy) · Customer demand (sales) · Deliverability (presales)</a:t>
            </a:r>
          </a:p>
        </p:txBody>
      </p:sp>
      <p:sp>
        <p:nvSpPr>
          <p:cNvPr id="23" name="TextBox 22"/>
          <p:cNvSpPr txBox="1"/>
          <p:nvPr/>
        </p:nvSpPr>
        <p:spPr>
          <a:xfrm>
            <a:off x="8494776" y="4544568"/>
            <a:ext cx="3008376" cy="548640"/>
          </a:xfrm>
          <a:prstGeom prst="rect">
            <a:avLst/>
          </a:prstGeom>
          <a:noFill/>
        </p:spPr>
        <p:txBody>
          <a:bodyPr wrap="square" anchor="t" lIns="0" rIns="0" tIns="0" bIns="0">
            <a:spAutoFit/>
          </a:bodyPr>
          <a:lstStyle/>
          <a:p>
            <a:pPr algn="l">
              <a:lnSpc>
                <a:spcPct val="125000"/>
              </a:lnSpc>
            </a:pPr>
            <a:r>
              <a:rPr sz="1050" b="0">
                <a:solidFill>
                  <a:srgbClr val="0B0B0B"/>
                </a:solidFill>
                <a:latin typeface="Helvetica Neue"/>
              </a:rPr>
              <a:t>Adjusts what surfaces first for each role. Never alters the other two.</a:t>
            </a:r>
          </a:p>
        </p:txBody>
      </p:sp>
      <p:sp>
        <p:nvSpPr>
          <p:cNvPr id="24" name="TextBox 23"/>
          <p:cNvSpPr txBox="1"/>
          <p:nvPr/>
        </p:nvSpPr>
        <p:spPr>
          <a:xfrm>
            <a:off x="685800" y="544068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Collapsing them destroys the information the strategist needs: a topic can be excellent for a strategist (large, early, no proof points) and useless for a salesperson (nothing to show).</a:t>
            </a:r>
          </a:p>
        </p:txBody>
      </p:sp>
      <p:sp>
        <p:nvSpPr>
          <p:cNvPr id="25" name="TextBox 24"/>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6" name="TextBox 25"/>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Evidence before generation</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The model never invents a topic from its own knowledge. It reorganises retrieved, dated, attributable evidence.</a:t>
            </a:r>
          </a:p>
        </p:txBody>
      </p:sp>
      <p:sp>
        <p:nvSpPr>
          <p:cNvPr id="6" name="Rectangle 5"/>
          <p:cNvSpPr/>
          <p:nvPr/>
        </p:nvSpPr>
        <p:spPr>
          <a:xfrm>
            <a:off x="685800" y="2148840"/>
            <a:ext cx="6583680" cy="603504"/>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21992"/>
            <a:ext cx="2377440" cy="274320"/>
          </a:xfrm>
          <a:prstGeom prst="rect">
            <a:avLst/>
          </a:prstGeom>
          <a:noFill/>
        </p:spPr>
        <p:txBody>
          <a:bodyPr wrap="square" anchor="t" lIns="0" rIns="0" tIns="0" bIns="0">
            <a:spAutoFit/>
          </a:bodyPr>
          <a:lstStyle/>
          <a:p>
            <a:pPr algn="l">
              <a:lnSpc>
                <a:spcPct val="118000"/>
              </a:lnSpc>
            </a:pPr>
            <a:r>
              <a:rPr sz="1250" b="1">
                <a:solidFill>
                  <a:srgbClr val="F07000"/>
                </a:solidFill>
                <a:latin typeface="Helvetica Neue"/>
              </a:rPr>
              <a:t>1 · Evidence binding</a:t>
            </a:r>
          </a:p>
        </p:txBody>
      </p:sp>
      <p:sp>
        <p:nvSpPr>
          <p:cNvPr id="8" name="TextBox 7"/>
          <p:cNvSpPr txBox="1"/>
          <p:nvPr/>
        </p:nvSpPr>
        <p:spPr>
          <a:xfrm>
            <a:off x="914400" y="2450592"/>
            <a:ext cx="6126480" cy="274320"/>
          </a:xfrm>
          <a:prstGeom prst="rect">
            <a:avLst/>
          </a:prstGeom>
          <a:noFill/>
        </p:spPr>
        <p:txBody>
          <a:bodyPr wrap="square" anchor="t" lIns="0" rIns="0" tIns="0" bIns="0">
            <a:spAutoFit/>
          </a:bodyPr>
          <a:lstStyle/>
          <a:p>
            <a:pPr algn="l">
              <a:lnSpc>
                <a:spcPct val="118000"/>
              </a:lnSpc>
            </a:pPr>
            <a:r>
              <a:rPr sz="1100" b="0">
                <a:solidFill>
                  <a:srgbClr val="6B6963"/>
                </a:solidFill>
                <a:latin typeface="Helvetica Neue"/>
              </a:rPr>
              <a:t>Every claim cites signal ids that must exist in the cluster that produced the candidate. Uncited claims are stripped, not rewritten.</a:t>
            </a:r>
          </a:p>
        </p:txBody>
      </p:sp>
      <p:sp>
        <p:nvSpPr>
          <p:cNvPr id="9" name="Rectangle 8"/>
          <p:cNvSpPr/>
          <p:nvPr/>
        </p:nvSpPr>
        <p:spPr>
          <a:xfrm>
            <a:off x="685800" y="2862072"/>
            <a:ext cx="6583680" cy="603504"/>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35224"/>
            <a:ext cx="2377440" cy="274320"/>
          </a:xfrm>
          <a:prstGeom prst="rect">
            <a:avLst/>
          </a:prstGeom>
          <a:noFill/>
        </p:spPr>
        <p:txBody>
          <a:bodyPr wrap="square" anchor="t" lIns="0" rIns="0" tIns="0" bIns="0">
            <a:spAutoFit/>
          </a:bodyPr>
          <a:lstStyle/>
          <a:p>
            <a:pPr algn="l">
              <a:lnSpc>
                <a:spcPct val="118000"/>
              </a:lnSpc>
            </a:pPr>
            <a:r>
              <a:rPr sz="1250" b="1">
                <a:solidFill>
                  <a:srgbClr val="F07000"/>
                </a:solidFill>
                <a:latin typeface="Helvetica Neue"/>
              </a:rPr>
              <a:t>2 · Closed vocabulary</a:t>
            </a:r>
          </a:p>
        </p:txBody>
      </p:sp>
      <p:sp>
        <p:nvSpPr>
          <p:cNvPr id="11" name="TextBox 10"/>
          <p:cNvSpPr txBox="1"/>
          <p:nvPr/>
        </p:nvSpPr>
        <p:spPr>
          <a:xfrm>
            <a:off x="914400" y="3163824"/>
            <a:ext cx="6126480" cy="274320"/>
          </a:xfrm>
          <a:prstGeom prst="rect">
            <a:avLst/>
          </a:prstGeom>
          <a:noFill/>
        </p:spPr>
        <p:txBody>
          <a:bodyPr wrap="square" anchor="t" lIns="0" rIns="0" tIns="0" bIns="0">
            <a:spAutoFit/>
          </a:bodyPr>
          <a:lstStyle/>
          <a:p>
            <a:pPr algn="l">
              <a:lnSpc>
                <a:spcPct val="118000"/>
              </a:lnSpc>
            </a:pPr>
            <a:r>
              <a:rPr sz="1100" b="0">
                <a:solidFill>
                  <a:srgbClr val="6B6963"/>
                </a:solidFill>
                <a:latin typeface="Helvetica Neue"/>
              </a:rPr>
              <a:t>Taxonomy values are validated against the enumerations. A recognised synonym is repaired once; anything else is dropped.</a:t>
            </a:r>
          </a:p>
        </p:txBody>
      </p:sp>
      <p:sp>
        <p:nvSpPr>
          <p:cNvPr id="12" name="Rectangle 11"/>
          <p:cNvSpPr/>
          <p:nvPr/>
        </p:nvSpPr>
        <p:spPr>
          <a:xfrm>
            <a:off x="685800" y="3575304"/>
            <a:ext cx="6583680" cy="603504"/>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48456"/>
            <a:ext cx="2377440" cy="274320"/>
          </a:xfrm>
          <a:prstGeom prst="rect">
            <a:avLst/>
          </a:prstGeom>
          <a:noFill/>
        </p:spPr>
        <p:txBody>
          <a:bodyPr wrap="square" anchor="t" lIns="0" rIns="0" tIns="0" bIns="0">
            <a:spAutoFit/>
          </a:bodyPr>
          <a:lstStyle/>
          <a:p>
            <a:pPr algn="l">
              <a:lnSpc>
                <a:spcPct val="118000"/>
              </a:lnSpc>
            </a:pPr>
            <a:r>
              <a:rPr sz="1250" b="1">
                <a:solidFill>
                  <a:srgbClr val="F07000"/>
                </a:solidFill>
                <a:latin typeface="Helvetica Neue"/>
              </a:rPr>
              <a:t>3 · No generated numbers</a:t>
            </a:r>
          </a:p>
        </p:txBody>
      </p:sp>
      <p:sp>
        <p:nvSpPr>
          <p:cNvPr id="14" name="TextBox 13"/>
          <p:cNvSpPr txBox="1"/>
          <p:nvPr/>
        </p:nvSpPr>
        <p:spPr>
          <a:xfrm>
            <a:off x="914400" y="3877056"/>
            <a:ext cx="6126480" cy="274320"/>
          </a:xfrm>
          <a:prstGeom prst="rect">
            <a:avLst/>
          </a:prstGeom>
          <a:noFill/>
        </p:spPr>
        <p:txBody>
          <a:bodyPr wrap="square" anchor="t" lIns="0" rIns="0" tIns="0" bIns="0">
            <a:spAutoFit/>
          </a:bodyPr>
          <a:lstStyle/>
          <a:p>
            <a:pPr algn="l">
              <a:lnSpc>
                <a:spcPct val="118000"/>
              </a:lnSpc>
            </a:pPr>
            <a:r>
              <a:rPr sz="1100" b="0">
                <a:solidFill>
                  <a:srgbClr val="6B6963"/>
                </a:solidFill>
                <a:latin typeface="Helvetica Neue"/>
              </a:rPr>
              <a:t>Market sizes, growth rates and percentages are looked up and attributed, or they are absent. Backstopped by a regex.</a:t>
            </a:r>
          </a:p>
        </p:txBody>
      </p:sp>
      <p:sp>
        <p:nvSpPr>
          <p:cNvPr id="15" name="Rectangle 14"/>
          <p:cNvSpPr/>
          <p:nvPr/>
        </p:nvSpPr>
        <p:spPr>
          <a:xfrm>
            <a:off x="685800" y="4288536"/>
            <a:ext cx="6583680" cy="603504"/>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361688"/>
            <a:ext cx="2377440" cy="274320"/>
          </a:xfrm>
          <a:prstGeom prst="rect">
            <a:avLst/>
          </a:prstGeom>
          <a:noFill/>
        </p:spPr>
        <p:txBody>
          <a:bodyPr wrap="square" anchor="t" lIns="0" rIns="0" tIns="0" bIns="0">
            <a:spAutoFit/>
          </a:bodyPr>
          <a:lstStyle/>
          <a:p>
            <a:pPr algn="l">
              <a:lnSpc>
                <a:spcPct val="118000"/>
              </a:lnSpc>
            </a:pPr>
            <a:r>
              <a:rPr sz="1250" b="1">
                <a:solidFill>
                  <a:srgbClr val="F07000"/>
                </a:solidFill>
                <a:latin typeface="Helvetica Neue"/>
              </a:rPr>
              <a:t>4 · Entailment check</a:t>
            </a:r>
          </a:p>
        </p:txBody>
      </p:sp>
      <p:sp>
        <p:nvSpPr>
          <p:cNvPr id="17" name="TextBox 16"/>
          <p:cNvSpPr txBox="1"/>
          <p:nvPr/>
        </p:nvSpPr>
        <p:spPr>
          <a:xfrm>
            <a:off x="914400" y="4590288"/>
            <a:ext cx="6126480" cy="274320"/>
          </a:xfrm>
          <a:prstGeom prst="rect">
            <a:avLst/>
          </a:prstGeom>
          <a:noFill/>
        </p:spPr>
        <p:txBody>
          <a:bodyPr wrap="square" anchor="t" lIns="0" rIns="0" tIns="0" bIns="0">
            <a:spAutoFit/>
          </a:bodyPr>
          <a:lstStyle/>
          <a:p>
            <a:pPr algn="l">
              <a:lnSpc>
                <a:spcPct val="118000"/>
              </a:lnSpc>
            </a:pPr>
            <a:r>
              <a:rPr sz="1100" b="0">
                <a:solidFill>
                  <a:srgbClr val="6B6963"/>
                </a:solidFill>
                <a:latin typeface="Helvetica Neue"/>
              </a:rPr>
              <a:t>A second model pass verifies each claim is actually entailed by the span it cites.</a:t>
            </a:r>
          </a:p>
        </p:txBody>
      </p:sp>
      <p:sp>
        <p:nvSpPr>
          <p:cNvPr id="18" name="Rectangle 17"/>
          <p:cNvSpPr/>
          <p:nvPr/>
        </p:nvSpPr>
        <p:spPr>
          <a:xfrm>
            <a:off x="7635240" y="2148840"/>
            <a:ext cx="3931920" cy="283464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7" y="2404872"/>
            <a:ext cx="3474720" cy="274320"/>
          </a:xfrm>
          <a:prstGeom prst="rect">
            <a:avLst/>
          </a:prstGeom>
          <a:noFill/>
        </p:spPr>
        <p:txBody>
          <a:bodyPr wrap="square" anchor="t" lIns="0" rIns="0" tIns="0" bIns="0">
            <a:spAutoFit/>
          </a:bodyPr>
          <a:lstStyle/>
          <a:p>
            <a:pPr algn="l">
              <a:lnSpc>
                <a:spcPct val="118000"/>
              </a:lnSpc>
            </a:pPr>
            <a:r>
              <a:rPr sz="1000" b="1">
                <a:solidFill>
                  <a:srgbClr val="F07000"/>
                </a:solidFill>
                <a:latin typeface="Helvetica Neue"/>
              </a:rPr>
              <a:t>PLUS AN ADVERSARIAL CRITIC</a:t>
            </a:r>
          </a:p>
        </p:txBody>
      </p:sp>
      <p:sp>
        <p:nvSpPr>
          <p:cNvPr id="20" name="TextBox 19"/>
          <p:cNvSpPr txBox="1"/>
          <p:nvPr/>
        </p:nvSpPr>
        <p:spPr>
          <a:xfrm>
            <a:off x="7882127" y="2770632"/>
            <a:ext cx="3474720" cy="2011680"/>
          </a:xfrm>
          <a:prstGeom prst="rect">
            <a:avLst/>
          </a:prstGeom>
          <a:noFill/>
        </p:spPr>
        <p:txBody>
          <a:bodyPr wrap="square" anchor="t" lIns="0" rIns="0" tIns="0" bIns="0">
            <a:spAutoFit/>
          </a:bodyPr>
          <a:lstStyle/>
          <a:p>
            <a:pPr algn="l">
              <a:lnSpc>
                <a:spcPct val="135000"/>
              </a:lnSpc>
            </a:pPr>
            <a:r>
              <a:rPr sz="1250" b="0">
                <a:solidFill>
                  <a:srgbClr val="FFFFFF"/>
                </a:solidFill>
                <a:latin typeface="Helvetica Neue"/>
              </a:rPr>
              <a:t>A separate critic prompt scores 1–5 as the MINIMUM across five tests, so one failure caps the whole score.
In the live run it rejected 345 of 644 candidates — with specific, written reasons.</a:t>
            </a:r>
          </a:p>
        </p:txBody>
      </p:sp>
      <p:sp>
        <p:nvSpPr>
          <p:cNvPr id="21" name="TextBox 20"/>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2" name="TextBox 21"/>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Portfolio distance decides whose conversation it is</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The shortest path from a topic to a configuration Orange could actually deliver.</a:t>
            </a:r>
          </a:p>
        </p:txBody>
      </p:sp>
      <p:sp>
        <p:nvSpPr>
          <p:cNvPr id="6" name="Rectangle 5"/>
          <p:cNvSpPr/>
          <p:nvPr/>
        </p:nvSpPr>
        <p:spPr>
          <a:xfrm>
            <a:off x="685800" y="2148840"/>
            <a:ext cx="566928" cy="457200"/>
          </a:xfrm>
          <a:prstGeom prst="rect">
            <a:avLst/>
          </a:prstGeom>
          <a:solidFill>
            <a:srgbClr val="86B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58568"/>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L0</a:t>
            </a:r>
          </a:p>
        </p:txBody>
      </p:sp>
      <p:sp>
        <p:nvSpPr>
          <p:cNvPr id="8" name="TextBox 7"/>
          <p:cNvSpPr txBox="1"/>
          <p:nvPr/>
        </p:nvSpPr>
        <p:spPr>
          <a:xfrm>
            <a:off x="1417320" y="2194560"/>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Direct</a:t>
            </a:r>
          </a:p>
        </p:txBody>
      </p:sp>
      <p:sp>
        <p:nvSpPr>
          <p:cNvPr id="9" name="TextBox 8"/>
          <p:cNvSpPr txBox="1"/>
          <p:nvPr/>
        </p:nvSpPr>
        <p:spPr>
          <a:xfrm>
            <a:off x="3429000" y="2212848"/>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An existing offer addresses it as it stands</a:t>
            </a:r>
          </a:p>
        </p:txBody>
      </p:sp>
      <p:sp>
        <p:nvSpPr>
          <p:cNvPr id="10" name="TextBox 9"/>
          <p:cNvSpPr txBox="1"/>
          <p:nvPr/>
        </p:nvSpPr>
        <p:spPr>
          <a:xfrm>
            <a:off x="8183879" y="2212848"/>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Sales — sell it</a:t>
            </a:r>
          </a:p>
        </p:txBody>
      </p:sp>
      <p:sp>
        <p:nvSpPr>
          <p:cNvPr id="11" name="Rectangle 10"/>
          <p:cNvSpPr/>
          <p:nvPr/>
        </p:nvSpPr>
        <p:spPr>
          <a:xfrm>
            <a:off x="685800" y="2715768"/>
            <a:ext cx="566928" cy="457200"/>
          </a:xfrm>
          <a:prstGeom prst="rect">
            <a:avLst/>
          </a:prstGeom>
          <a:solidFill>
            <a:srgbClr val="559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825496"/>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L1</a:t>
            </a:r>
          </a:p>
        </p:txBody>
      </p:sp>
      <p:sp>
        <p:nvSpPr>
          <p:cNvPr id="13" name="TextBox 12"/>
          <p:cNvSpPr txBox="1"/>
          <p:nvPr/>
        </p:nvSpPr>
        <p:spPr>
          <a:xfrm>
            <a:off x="1417320" y="2761488"/>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Bundle</a:t>
            </a:r>
          </a:p>
        </p:txBody>
      </p:sp>
      <p:sp>
        <p:nvSpPr>
          <p:cNvPr id="14" name="TextBox 13"/>
          <p:cNvSpPr txBox="1"/>
          <p:nvPr/>
        </p:nvSpPr>
        <p:spPr>
          <a:xfrm>
            <a:off x="3429000" y="2779776"/>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Two or more existing offers combined</a:t>
            </a:r>
          </a:p>
        </p:txBody>
      </p:sp>
      <p:sp>
        <p:nvSpPr>
          <p:cNvPr id="15" name="TextBox 14"/>
          <p:cNvSpPr txBox="1"/>
          <p:nvPr/>
        </p:nvSpPr>
        <p:spPr>
          <a:xfrm>
            <a:off x="8183879" y="2779776"/>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Presales — package it</a:t>
            </a:r>
          </a:p>
        </p:txBody>
      </p:sp>
      <p:sp>
        <p:nvSpPr>
          <p:cNvPr id="16" name="Rectangle 15"/>
          <p:cNvSpPr/>
          <p:nvPr/>
        </p:nvSpPr>
        <p:spPr>
          <a:xfrm>
            <a:off x="685800" y="3282696"/>
            <a:ext cx="566928"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392424"/>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L2</a:t>
            </a:r>
          </a:p>
        </p:txBody>
      </p:sp>
      <p:sp>
        <p:nvSpPr>
          <p:cNvPr id="18" name="TextBox 17"/>
          <p:cNvSpPr txBox="1"/>
          <p:nvPr/>
        </p:nvSpPr>
        <p:spPr>
          <a:xfrm>
            <a:off x="1417320" y="3328416"/>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Partner-dependent</a:t>
            </a:r>
          </a:p>
        </p:txBody>
      </p:sp>
      <p:sp>
        <p:nvSpPr>
          <p:cNvPr id="19" name="TextBox 18"/>
          <p:cNvSpPr txBox="1"/>
          <p:nvPr/>
        </p:nvSpPr>
        <p:spPr>
          <a:xfrm>
            <a:off x="3429000" y="3346704"/>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Needs a capability a partner already holds</a:t>
            </a:r>
          </a:p>
        </p:txBody>
      </p:sp>
      <p:sp>
        <p:nvSpPr>
          <p:cNvPr id="20" name="TextBox 19"/>
          <p:cNvSpPr txBox="1"/>
          <p:nvPr/>
        </p:nvSpPr>
        <p:spPr>
          <a:xfrm>
            <a:off x="8183879" y="3346704"/>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Presales / alliances — assemble it</a:t>
            </a:r>
          </a:p>
        </p:txBody>
      </p:sp>
      <p:sp>
        <p:nvSpPr>
          <p:cNvPr id="21" name="Rectangle 20"/>
          <p:cNvSpPr/>
          <p:nvPr/>
        </p:nvSpPr>
        <p:spPr>
          <a:xfrm>
            <a:off x="685800" y="3849624"/>
            <a:ext cx="566928" cy="4572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59352"/>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L3</a:t>
            </a:r>
          </a:p>
        </p:txBody>
      </p:sp>
      <p:sp>
        <p:nvSpPr>
          <p:cNvPr id="23" name="TextBox 22"/>
          <p:cNvSpPr txBox="1"/>
          <p:nvPr/>
        </p:nvSpPr>
        <p:spPr>
          <a:xfrm>
            <a:off x="1417320" y="3895344"/>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Adjacent</a:t>
            </a:r>
          </a:p>
        </p:txBody>
      </p:sp>
      <p:sp>
        <p:nvSpPr>
          <p:cNvPr id="24" name="TextBox 23"/>
          <p:cNvSpPr txBox="1"/>
          <p:nvPr/>
        </p:nvSpPr>
        <p:spPr>
          <a:xfrm>
            <a:off x="3429000" y="3913632"/>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Needs one capability built; nearby assets exist</a:t>
            </a:r>
          </a:p>
        </p:txBody>
      </p:sp>
      <p:sp>
        <p:nvSpPr>
          <p:cNvPr id="25" name="TextBox 24"/>
          <p:cNvSpPr txBox="1"/>
          <p:nvPr/>
        </p:nvSpPr>
        <p:spPr>
          <a:xfrm>
            <a:off x="8183879" y="3913632"/>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Strategy — study it</a:t>
            </a:r>
          </a:p>
        </p:txBody>
      </p:sp>
      <p:sp>
        <p:nvSpPr>
          <p:cNvPr id="26" name="Rectangle 25"/>
          <p:cNvSpPr/>
          <p:nvPr/>
        </p:nvSpPr>
        <p:spPr>
          <a:xfrm>
            <a:off x="685800" y="4416552"/>
            <a:ext cx="566928" cy="457200"/>
          </a:xfrm>
          <a:prstGeom prst="rect">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526280"/>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L4</a:t>
            </a:r>
          </a:p>
        </p:txBody>
      </p:sp>
      <p:sp>
        <p:nvSpPr>
          <p:cNvPr id="28" name="TextBox 27"/>
          <p:cNvSpPr txBox="1"/>
          <p:nvPr/>
        </p:nvSpPr>
        <p:spPr>
          <a:xfrm>
            <a:off x="1417320" y="4462272"/>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White space</a:t>
            </a:r>
          </a:p>
        </p:txBody>
      </p:sp>
      <p:sp>
        <p:nvSpPr>
          <p:cNvPr id="29" name="TextBox 28"/>
          <p:cNvSpPr txBox="1"/>
          <p:nvPr/>
        </p:nvSpPr>
        <p:spPr>
          <a:xfrm>
            <a:off x="3429000" y="4480560"/>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No plausible path from the current portfolio</a:t>
            </a:r>
          </a:p>
        </p:txBody>
      </p:sp>
      <p:sp>
        <p:nvSpPr>
          <p:cNvPr id="30" name="TextBox 29"/>
          <p:cNvSpPr txBox="1"/>
          <p:nvPr/>
        </p:nvSpPr>
        <p:spPr>
          <a:xfrm>
            <a:off x="8183879" y="4480560"/>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Strategy — watch or reject</a:t>
            </a:r>
          </a:p>
        </p:txBody>
      </p:sp>
      <p:sp>
        <p:nvSpPr>
          <p:cNvPr id="31" name="TextBox 30"/>
          <p:cNvSpPr txBox="1"/>
          <p:nvPr/>
        </p:nvSpPr>
        <p:spPr>
          <a:xfrm>
            <a:off x="685800" y="521208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This is what drives the role modes — they are not arbitrary presets. A high-attractiveness L4 topic is exactly the strategist's innovation agenda, and exactly what a salesperson should never be shown.</a:t>
            </a:r>
          </a:p>
        </p:txBody>
      </p:sp>
      <p:sp>
        <p:nvSpPr>
          <p:cNvPr id="32" name="TextBox 31"/>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33" name="TextBox 32"/>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STATUS</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What the MVP has actually produced</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Every figure below is read from the live database, not typed into this deck.</a:t>
            </a:r>
          </a:p>
        </p:txBody>
      </p:sp>
      <p:sp>
        <p:nvSpPr>
          <p:cNvPr id="6" name="Rectangle 5"/>
          <p:cNvSpPr/>
          <p:nvPr/>
        </p:nvSpPr>
        <p:spPr>
          <a:xfrm>
            <a:off x="685800" y="2148840"/>
            <a:ext cx="221284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295144"/>
            <a:ext cx="184708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174</a:t>
            </a:r>
          </a:p>
        </p:txBody>
      </p:sp>
      <p:sp>
        <p:nvSpPr>
          <p:cNvPr id="8" name="TextBox 7"/>
          <p:cNvSpPr txBox="1"/>
          <p:nvPr/>
        </p:nvSpPr>
        <p:spPr>
          <a:xfrm>
            <a:off x="886968" y="2807208"/>
            <a:ext cx="184708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OPPORTUNITY SPACES</a:t>
            </a:r>
          </a:p>
        </p:txBody>
      </p:sp>
      <p:sp>
        <p:nvSpPr>
          <p:cNvPr id="9" name="TextBox 8"/>
          <p:cNvSpPr txBox="1"/>
          <p:nvPr/>
        </p:nvSpPr>
        <p:spPr>
          <a:xfrm>
            <a:off x="886968" y="3035808"/>
            <a:ext cx="184708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14/15 verticals covered</a:t>
            </a:r>
          </a:p>
        </p:txBody>
      </p:sp>
      <p:sp>
        <p:nvSpPr>
          <p:cNvPr id="10" name="Rectangle 9"/>
          <p:cNvSpPr/>
          <p:nvPr/>
        </p:nvSpPr>
        <p:spPr>
          <a:xfrm>
            <a:off x="3081528" y="2148840"/>
            <a:ext cx="221284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82696" y="2295144"/>
            <a:ext cx="184708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4,658</a:t>
            </a:r>
          </a:p>
        </p:txBody>
      </p:sp>
      <p:sp>
        <p:nvSpPr>
          <p:cNvPr id="12" name="TextBox 11"/>
          <p:cNvSpPr txBox="1"/>
          <p:nvPr/>
        </p:nvSpPr>
        <p:spPr>
          <a:xfrm>
            <a:off x="3282696" y="2807208"/>
            <a:ext cx="184708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SIGNALS INGESTED</a:t>
            </a:r>
          </a:p>
        </p:txBody>
      </p:sp>
      <p:sp>
        <p:nvSpPr>
          <p:cNvPr id="13" name="TextBox 12"/>
          <p:cNvSpPr txBox="1"/>
          <p:nvPr/>
        </p:nvSpPr>
        <p:spPr>
          <a:xfrm>
            <a:off x="3282696" y="3035808"/>
            <a:ext cx="184708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2,064 passed the gate</a:t>
            </a:r>
          </a:p>
        </p:txBody>
      </p:sp>
      <p:sp>
        <p:nvSpPr>
          <p:cNvPr id="14" name="Rectangle 13"/>
          <p:cNvSpPr/>
          <p:nvPr/>
        </p:nvSpPr>
        <p:spPr>
          <a:xfrm>
            <a:off x="5477256" y="2148840"/>
            <a:ext cx="221284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78424" y="2295144"/>
            <a:ext cx="184708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18</a:t>
            </a:r>
          </a:p>
        </p:txBody>
      </p:sp>
      <p:sp>
        <p:nvSpPr>
          <p:cNvPr id="16" name="TextBox 15"/>
          <p:cNvSpPr txBox="1"/>
          <p:nvPr/>
        </p:nvSpPr>
        <p:spPr>
          <a:xfrm>
            <a:off x="5678424" y="2807208"/>
            <a:ext cx="184708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LIVE SOURCES</a:t>
            </a:r>
          </a:p>
        </p:txBody>
      </p:sp>
      <p:sp>
        <p:nvSpPr>
          <p:cNvPr id="17" name="TextBox 16"/>
          <p:cNvSpPr txBox="1"/>
          <p:nvPr/>
        </p:nvSpPr>
        <p:spPr>
          <a:xfrm>
            <a:off x="5678424" y="3035808"/>
            <a:ext cx="184708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19 of 25 catalogued</a:t>
            </a:r>
          </a:p>
        </p:txBody>
      </p:sp>
      <p:sp>
        <p:nvSpPr>
          <p:cNvPr id="18" name="Rectangle 17"/>
          <p:cNvSpPr/>
          <p:nvPr/>
        </p:nvSpPr>
        <p:spPr>
          <a:xfrm>
            <a:off x="7872984" y="2148840"/>
            <a:ext cx="221284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74152" y="2295144"/>
            <a:ext cx="184708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2,007</a:t>
            </a:r>
          </a:p>
        </p:txBody>
      </p:sp>
      <p:sp>
        <p:nvSpPr>
          <p:cNvPr id="20" name="TextBox 19"/>
          <p:cNvSpPr txBox="1"/>
          <p:nvPr/>
        </p:nvSpPr>
        <p:spPr>
          <a:xfrm>
            <a:off x="8074152" y="2807208"/>
            <a:ext cx="184708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ASSET LINKS</a:t>
            </a:r>
          </a:p>
        </p:txBody>
      </p:sp>
      <p:sp>
        <p:nvSpPr>
          <p:cNvPr id="21" name="TextBox 20"/>
          <p:cNvSpPr txBox="1"/>
          <p:nvPr/>
        </p:nvSpPr>
        <p:spPr>
          <a:xfrm>
            <a:off x="8074152" y="3035808"/>
            <a:ext cx="184708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181 graph nodes</a:t>
            </a:r>
          </a:p>
        </p:txBody>
      </p:sp>
      <p:sp>
        <p:nvSpPr>
          <p:cNvPr id="22" name="Rectangle 21"/>
          <p:cNvSpPr/>
          <p:nvPr/>
        </p:nvSpPr>
        <p:spPr>
          <a:xfrm>
            <a:off x="10268712" y="2148840"/>
            <a:ext cx="221284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69880" y="2295144"/>
            <a:ext cx="184708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12.3</a:t>
            </a:r>
          </a:p>
        </p:txBody>
      </p:sp>
      <p:sp>
        <p:nvSpPr>
          <p:cNvPr id="24" name="TextBox 23"/>
          <p:cNvSpPr txBox="1"/>
          <p:nvPr/>
        </p:nvSpPr>
        <p:spPr>
          <a:xfrm>
            <a:off x="10469880" y="2807208"/>
            <a:ext cx="184708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SIGNALS PER TOPIC</a:t>
            </a:r>
          </a:p>
        </p:txBody>
      </p:sp>
      <p:sp>
        <p:nvSpPr>
          <p:cNvPr id="25" name="TextBox 24"/>
          <p:cNvSpPr txBox="1"/>
          <p:nvPr/>
        </p:nvSpPr>
        <p:spPr>
          <a:xfrm>
            <a:off x="10469880" y="3035808"/>
            <a:ext cx="184708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evidence depth after enrichment</a:t>
            </a:r>
          </a:p>
        </p:txBody>
      </p:sp>
      <p:sp>
        <p:nvSpPr>
          <p:cNvPr id="26" name="TextBox 25"/>
          <p:cNvSpPr txBox="1"/>
          <p:nvPr/>
        </p:nvSpPr>
        <p:spPr>
          <a:xfrm>
            <a:off x="685800" y="3749040"/>
            <a:ext cx="10881360" cy="36576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Coverage of the evidenced grid</a:t>
            </a:r>
          </a:p>
        </p:txBody>
      </p:sp>
      <p:sp>
        <p:nvSpPr>
          <p:cNvPr id="27" name="Rectangle 26"/>
          <p:cNvSpPr/>
          <p:nvPr/>
        </p:nvSpPr>
        <p:spPr>
          <a:xfrm>
            <a:off x="685800" y="4274820"/>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 y="4206240"/>
            <a:ext cx="10515600" cy="365760"/>
          </a:xfrm>
          <a:prstGeom prst="rect">
            <a:avLst/>
          </a:prstGeom>
          <a:noFill/>
        </p:spPr>
        <p:txBody>
          <a:bodyPr wrap="square" anchor="t" lIns="0" rIns="0" tIns="0" bIns="0">
            <a:spAutoFit/>
          </a:bodyPr>
          <a:lstStyle/>
          <a:p>
            <a:pPr algn="l">
              <a:lnSpc>
                <a:spcPct val="118000"/>
              </a:lnSpc>
            </a:pPr>
            <a:r>
              <a:rPr sz="1350" b="1">
                <a:solidFill>
                  <a:srgbClr val="0B0B0B"/>
                </a:solidFill>
                <a:latin typeface="Helvetica Neue"/>
              </a:rPr>
              <a:t>37 of 59 use cases and 28 of 38 technologies  </a:t>
            </a:r>
            <a:r>
              <a:rPr sz="1350" b="0">
                <a:solidFill>
                  <a:srgbClr val="6B6963"/>
                </a:solidFill>
                <a:latin typeface="Helvetica Neue"/>
              </a:rPr>
              <a:t>appear in at least one topic — the grid is deliberately sparse; most cells should stay empty.</a:t>
            </a:r>
          </a:p>
        </p:txBody>
      </p:sp>
      <p:sp>
        <p:nvSpPr>
          <p:cNvPr id="29" name="Rectangle 28"/>
          <p:cNvSpPr/>
          <p:nvPr/>
        </p:nvSpPr>
        <p:spPr>
          <a:xfrm>
            <a:off x="685800" y="4732020"/>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 y="4663440"/>
            <a:ext cx="10515600" cy="365760"/>
          </a:xfrm>
          <a:prstGeom prst="rect">
            <a:avLst/>
          </a:prstGeom>
          <a:noFill/>
        </p:spPr>
        <p:txBody>
          <a:bodyPr wrap="square" anchor="t" lIns="0" rIns="0" tIns="0" bIns="0">
            <a:spAutoFit/>
          </a:bodyPr>
          <a:lstStyle/>
          <a:p>
            <a:pPr algn="l">
              <a:lnSpc>
                <a:spcPct val="118000"/>
              </a:lnSpc>
            </a:pPr>
            <a:r>
              <a:rPr sz="1350" b="1">
                <a:solidFill>
                  <a:srgbClr val="0B0B0B"/>
                </a:solidFill>
                <a:latin typeface="Helvetica Neue"/>
              </a:rPr>
              <a:t>3,422 tier-1 signals  </a:t>
            </a:r>
            <a:r>
              <a:rPr sz="1350" b="0">
                <a:solidFill>
                  <a:srgbClr val="6B6963"/>
                </a:solidFill>
                <a:latin typeface="Helvetica Neue"/>
              </a:rPr>
              <a:t>from regulators, procurement portals, standards bodies and official statistics.</a:t>
            </a:r>
          </a:p>
        </p:txBody>
      </p:sp>
      <p:sp>
        <p:nvSpPr>
          <p:cNvPr id="31" name="Rectangle 30"/>
          <p:cNvSpPr/>
          <p:nvPr/>
        </p:nvSpPr>
        <p:spPr>
          <a:xfrm>
            <a:off x="685800" y="5189220"/>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 y="5120640"/>
            <a:ext cx="10515600" cy="365760"/>
          </a:xfrm>
          <a:prstGeom prst="rect">
            <a:avLst/>
          </a:prstGeom>
          <a:noFill/>
        </p:spPr>
        <p:txBody>
          <a:bodyPr wrap="square" anchor="t" lIns="0" rIns="0" tIns="0" bIns="0">
            <a:spAutoFit/>
          </a:bodyPr>
          <a:lstStyle/>
          <a:p>
            <a:pPr algn="l">
              <a:lnSpc>
                <a:spcPct val="118000"/>
              </a:lnSpc>
            </a:pPr>
            <a:r>
              <a:rPr sz="1350" b="1">
                <a:solidFill>
                  <a:srgbClr val="0B0B0B"/>
                </a:solidFill>
                <a:latin typeface="Helvetica Neue"/>
              </a:rPr>
              <a:t>508 French-language signals  </a:t>
            </a:r>
            <a:r>
              <a:rPr sz="1350" b="0">
                <a:solidFill>
                  <a:srgbClr val="6B6963"/>
                </a:solidFill>
                <a:latin typeface="Helvetica Neue"/>
              </a:rPr>
              <a:t>so the anglophone bias named as a principal risk is measured, not assumed.</a:t>
            </a:r>
          </a:p>
        </p:txBody>
      </p:sp>
      <p:sp>
        <p:nvSpPr>
          <p:cNvPr id="33" name="Rectangle 32"/>
          <p:cNvSpPr/>
          <p:nvPr/>
        </p:nvSpPr>
        <p:spPr>
          <a:xfrm>
            <a:off x="685800" y="5646420"/>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3544" y="5577840"/>
            <a:ext cx="10515600" cy="365760"/>
          </a:xfrm>
          <a:prstGeom prst="rect">
            <a:avLst/>
          </a:prstGeom>
          <a:noFill/>
        </p:spPr>
        <p:txBody>
          <a:bodyPr wrap="square" anchor="t" lIns="0" rIns="0" tIns="0" bIns="0">
            <a:spAutoFit/>
          </a:bodyPr>
          <a:lstStyle/>
          <a:p>
            <a:pPr algn="l">
              <a:lnSpc>
                <a:spcPct val="118000"/>
              </a:lnSpc>
            </a:pPr>
            <a:r>
              <a:rPr sz="1350" b="1">
                <a:solidFill>
                  <a:srgbClr val="0B0B0B"/>
                </a:solidFill>
                <a:latin typeface="Helvetica Neue"/>
              </a:rPr>
              <a:t>174 sized · 174 competition-scored · 62 with a sales brief  </a:t>
            </a:r>
            <a:r>
              <a:rPr sz="1350" b="0">
                <a:solidFill>
                  <a:srgbClr val="6B6963"/>
                </a:solidFill>
                <a:latin typeface="Helvetica Neue"/>
              </a:rPr>
              <a:t>each carrying its method and confidence, not a quoted headline figure.</a:t>
            </a:r>
          </a:p>
        </p:txBody>
      </p:sp>
      <p:sp>
        <p:nvSpPr>
          <p:cNvPr id="35" name="TextBox 34"/>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36" name="TextBox 35"/>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Sizing and competition, with the working shown</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Two questions a topic cannot be acted on without: how big is it, and who else is already there?</a:t>
            </a:r>
          </a:p>
        </p:txBody>
      </p:sp>
      <p:sp>
        <p:nvSpPr>
          <p:cNvPr id="6" name="Rectangle 5"/>
          <p:cNvSpPr/>
          <p:nvPr/>
        </p:nvSpPr>
        <p:spPr>
          <a:xfrm>
            <a:off x="685800" y="2148840"/>
            <a:ext cx="5486400" cy="265176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404872"/>
            <a:ext cx="49377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MARKET SIZE — BOTTOM UP, NOT QUOTED</a:t>
            </a:r>
          </a:p>
        </p:txBody>
      </p:sp>
      <p:sp>
        <p:nvSpPr>
          <p:cNvPr id="8" name="TextBox 7"/>
          <p:cNvSpPr txBox="1"/>
          <p:nvPr/>
        </p:nvSpPr>
        <p:spPr>
          <a:xfrm>
            <a:off x="960120" y="2770632"/>
            <a:ext cx="4937760" cy="1828800"/>
          </a:xfrm>
          <a:prstGeom prst="rect">
            <a:avLst/>
          </a:prstGeom>
          <a:noFill/>
        </p:spPr>
        <p:txBody>
          <a:bodyPr wrap="square" anchor="t" lIns="0" rIns="0" tIns="0" bIns="0">
            <a:spAutoFit/>
          </a:bodyPr>
          <a:lstStyle/>
          <a:p>
            <a:pPr algn="l">
              <a:lnSpc>
                <a:spcPct val="135000"/>
              </a:lnSpc>
            </a:pPr>
            <a:r>
              <a:rPr sz="1200" b="0">
                <a:solidFill>
                  <a:srgbClr val="0B0B0B"/>
                </a:solidFill>
                <a:latin typeface="Helvetica Neue"/>
              </a:rPr>
              <a:t>Headline market figures in press coverage originate from paid research, are quoted without methodology, and frequently conflict by an order of magnitude.
So the radar builds its own: enterprise counts by sector and size class, times an observed adoption rate, times a plausible contract value. Every estimate carries its method, its inputs and a confidence label — and can be rejected on its arithmetic.</a:t>
            </a:r>
          </a:p>
        </p:txBody>
      </p:sp>
      <p:sp>
        <p:nvSpPr>
          <p:cNvPr id="9" name="Rectangle 8"/>
          <p:cNvSpPr/>
          <p:nvPr/>
        </p:nvSpPr>
        <p:spPr>
          <a:xfrm>
            <a:off x="6400800" y="2148840"/>
            <a:ext cx="5120640" cy="265176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2404872"/>
            <a:ext cx="457200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COMPETITIVE INTENSITY</a:t>
            </a:r>
          </a:p>
        </p:txBody>
      </p:sp>
      <p:sp>
        <p:nvSpPr>
          <p:cNvPr id="11" name="TextBox 10"/>
          <p:cNvSpPr txBox="1"/>
          <p:nvPr/>
        </p:nvSpPr>
        <p:spPr>
          <a:xfrm>
            <a:off x="6675120" y="2770632"/>
            <a:ext cx="4572000" cy="1828800"/>
          </a:xfrm>
          <a:prstGeom prst="rect">
            <a:avLst/>
          </a:prstGeom>
          <a:noFill/>
        </p:spPr>
        <p:txBody>
          <a:bodyPr wrap="square" anchor="t" lIns="0" rIns="0" tIns="0" bIns="0">
            <a:spAutoFit/>
          </a:bodyPr>
          <a:lstStyle/>
          <a:p>
            <a:pPr algn="l">
              <a:lnSpc>
                <a:spcPct val="135000"/>
              </a:lnSpc>
            </a:pPr>
            <a:r>
              <a:rPr sz="1200" b="0">
                <a:solidFill>
                  <a:srgbClr val="0B0B0B"/>
                </a:solidFill>
                <a:latin typeface="Helvetica Neue"/>
              </a:rPr>
              <a:t>Scored from a versioned competitor register against the evidence actually collected — who is visibly playing here.
A crowded field is not a reason to walk away; it is a reason to win on a specific differentiator. And 'no competitor found' is reported as unverified rather than as empty, because it may only mean the register has a gap.</a:t>
            </a:r>
          </a:p>
        </p:txBody>
      </p:sp>
      <p:sp>
        <p:nvSpPr>
          <p:cNvPr id="12" name="TextBox 11"/>
          <p:cNvSpPr txBox="1"/>
          <p:nvPr/>
        </p:nvSpPr>
        <p:spPr>
          <a:xfrm>
            <a:off x="685800" y="502920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Both are filterable and sortable, because a number the radar computes but cannot be sorted on is a number a strategist has to eyeball across a hundred and forty-eight rows.</a:t>
            </a:r>
          </a:p>
        </p:txBody>
      </p:sp>
      <p:sp>
        <p:nvSpPr>
          <p:cNvPr id="13" name="TextBox 12"/>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4" name="TextBox 13"/>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The radar view</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Four dimensions without a legend anyone has to study</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Angular sector is the business domain. Distance from the centre is the time horizon — Now at the middle, Later at the rim. Marker size is attractiveness; marker colour is right to win. Position carries identity, so colour is free to encode a quantity. A ! inside a marker means an evidence gap.</a:t>
            </a:r>
          </a:p>
        </p:txBody>
      </p:sp>
      <p:pic>
        <p:nvPicPr>
          <p:cNvPr id="7" name="Picture 6" descr="radar.png"/>
          <p:cNvPicPr>
            <a:picLocks noChangeAspect="1"/>
          </p:cNvPicPr>
          <p:nvPr/>
        </p:nvPicPr>
        <p:blipFill>
          <a:blip r:embed="rId2"/>
          <a:stretch>
            <a:fillRect/>
          </a:stretch>
        </p:blipFill>
        <p:spPr>
          <a:xfrm>
            <a:off x="4160520" y="1417320"/>
            <a:ext cx="7498079" cy="4686299"/>
          </a:xfrm>
          <a:prstGeom prst="rect">
            <a:avLst/>
          </a:prstGeom>
        </p:spPr>
      </p:pic>
      <p:sp>
        <p:nvSpPr>
          <p:cNvPr id="8" name="Rectangle 7"/>
          <p:cNvSpPr/>
          <p:nvPr/>
        </p:nvSpPr>
        <p:spPr>
          <a:xfrm>
            <a:off x="4160520" y="1417320"/>
            <a:ext cx="7498079" cy="468629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Role-ranked list</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The same data, three genuinely different rankings</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Strategist ranks on attractiveness and novelty and ignores right-to-win. Sales ranks on right-to-win and proof-point density, and only sees topics with a delivery path, a published reference in the vertical, and no evidence gap. Presales ranks on differentiation.</a:t>
            </a:r>
          </a:p>
        </p:txBody>
      </p:sp>
      <p:pic>
        <p:nvPicPr>
          <p:cNvPr id="7" name="Picture 6" descr="list.png"/>
          <p:cNvPicPr>
            <a:picLocks noChangeAspect="1"/>
          </p:cNvPicPr>
          <p:nvPr/>
        </p:nvPicPr>
        <p:blipFill>
          <a:blip r:embed="rId2"/>
          <a:stretch>
            <a:fillRect/>
          </a:stretch>
        </p:blipFill>
        <p:spPr>
          <a:xfrm>
            <a:off x="4160520" y="1417320"/>
            <a:ext cx="7498079" cy="4686299"/>
          </a:xfrm>
          <a:prstGeom prst="rect">
            <a:avLst/>
          </a:prstGeom>
        </p:spPr>
      </p:pic>
      <p:sp>
        <p:nvSpPr>
          <p:cNvPr id="8" name="Rectangle 7"/>
          <p:cNvSpPr/>
          <p:nvPr/>
        </p:nvSpPr>
        <p:spPr>
          <a:xfrm>
            <a:off x="4160520" y="1417320"/>
            <a:ext cx="7498079" cy="468629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Topic detail</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Every claim traceable to a dated source</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One page in the order the user's questions arrive: the statement, why it is hot now with each claim linked to its signals, where it delivers value and for whom, can-we-play/can-we-win itemised against named Orange assets, the score breakdown expanded, and the next action for the current role.</a:t>
            </a:r>
          </a:p>
        </p:txBody>
      </p:sp>
      <p:pic>
        <p:nvPicPr>
          <p:cNvPr id="7" name="Picture 6" descr="detail.png"/>
          <p:cNvPicPr>
            <a:picLocks noChangeAspect="1"/>
          </p:cNvPicPr>
          <p:nvPr/>
        </p:nvPicPr>
        <p:blipFill>
          <a:blip r:embed="rId2"/>
          <a:stretch>
            <a:fillRect/>
          </a:stretch>
        </p:blipFill>
        <p:spPr>
          <a:xfrm>
            <a:off x="4160520" y="1417320"/>
            <a:ext cx="7498079" cy="4686299"/>
          </a:xfrm>
          <a:prstGeom prst="rect">
            <a:avLst/>
          </a:prstGeom>
        </p:spPr>
      </p:pic>
      <p:sp>
        <p:nvSpPr>
          <p:cNvPr id="8" name="Rectangle 7"/>
          <p:cNvSpPr/>
          <p:nvPr/>
        </p:nvSpPr>
        <p:spPr>
          <a:xfrm>
            <a:off x="4160520" y="1417320"/>
            <a:ext cx="7498079" cy="468629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How this score was calculated</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Explainability made checkable rather than asserted</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Every component shows the stored inputs and the arithmetic: publisher entropy and the publishers counted, the tier distribution, the per-period buckets the momentum slope was fitted to, the rubric level and its rationale. A reviewer outside the project can reconstruct why any topic holds its rank.</a:t>
            </a:r>
          </a:p>
        </p:txBody>
      </p:sp>
      <p:pic>
        <p:nvPicPr>
          <p:cNvPr id="7" name="Picture 6" descr="explain.png"/>
          <p:cNvPicPr>
            <a:picLocks noChangeAspect="1"/>
          </p:cNvPicPr>
          <p:nvPr/>
        </p:nvPicPr>
        <p:blipFill>
          <a:blip r:embed="rId2"/>
          <a:stretch>
            <a:fillRect/>
          </a:stretch>
        </p:blipFill>
        <p:spPr>
          <a:xfrm>
            <a:off x="4160520" y="1417320"/>
            <a:ext cx="7498079" cy="4686299"/>
          </a:xfrm>
          <a:prstGeom prst="rect">
            <a:avLst/>
          </a:prstGeom>
        </p:spPr>
      </p:pic>
      <p:sp>
        <p:nvSpPr>
          <p:cNvPr id="8" name="Rectangle 7"/>
          <p:cNvSpPr/>
          <p:nvPr/>
        </p:nvSpPr>
        <p:spPr>
          <a:xfrm>
            <a:off x="4160520" y="1417320"/>
            <a:ext cx="7498079" cy="468629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Stage gate and role assessment</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Shortlisted → Demand-tested → Packaged → Live</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Ownership follows the stage, and stalled cards are flagged because latency is the known weakness of a stage gate. Each role rates only the axis it owns, on a 0–5 scale with written anchors. Those ratings form conviction — a third quantity that changes ranking only.</a:t>
            </a:r>
          </a:p>
        </p:txBody>
      </p:sp>
      <p:pic>
        <p:nvPicPr>
          <p:cNvPr id="7" name="Picture 6" descr="workflow.png"/>
          <p:cNvPicPr>
            <a:picLocks noChangeAspect="1"/>
          </p:cNvPicPr>
          <p:nvPr/>
        </p:nvPicPr>
        <p:blipFill>
          <a:blip r:embed="rId2"/>
          <a:stretch>
            <a:fillRect/>
          </a:stretch>
        </p:blipFill>
        <p:spPr>
          <a:xfrm>
            <a:off x="4160520" y="1417320"/>
            <a:ext cx="7498079" cy="4686299"/>
          </a:xfrm>
          <a:prstGeom prst="rect">
            <a:avLst/>
          </a:prstGeom>
        </p:spPr>
      </p:pic>
      <p:sp>
        <p:nvSpPr>
          <p:cNvPr id="8" name="Rectangle 7"/>
          <p:cNvSpPr/>
          <p:nvPr/>
        </p:nvSpPr>
        <p:spPr>
          <a:xfrm>
            <a:off x="4160520" y="1417320"/>
            <a:ext cx="7498079" cy="468629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Analytics</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Charts chosen by the job the data does</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The vertical × domain heatmap is magnitude on a grid, so sequential. Conviction versus evidence is polarity, so diverging with a neutral midpoint — agreement reads as nothing. The stage funnel is an ordered sequence, so ordinal. Only the signal-type mix is categorical, and it ships a legend and a table.</a:t>
            </a:r>
          </a:p>
        </p:txBody>
      </p:sp>
      <p:pic>
        <p:nvPicPr>
          <p:cNvPr id="7" name="Picture 6" descr="analytics.png"/>
          <p:cNvPicPr>
            <a:picLocks noChangeAspect="1"/>
          </p:cNvPicPr>
          <p:nvPr/>
        </p:nvPicPr>
        <p:blipFill>
          <a:blip r:embed="rId2"/>
          <a:stretch>
            <a:fillRect/>
          </a:stretch>
        </p:blipFill>
        <p:spPr>
          <a:xfrm>
            <a:off x="4160520" y="1417320"/>
            <a:ext cx="7498079" cy="4686299"/>
          </a:xfrm>
          <a:prstGeom prst="rect">
            <a:avLst/>
          </a:prstGeom>
        </p:spPr>
      </p:pic>
      <p:sp>
        <p:nvSpPr>
          <p:cNvPr id="8" name="Rectangle 7"/>
          <p:cNvSpPr/>
          <p:nvPr/>
        </p:nvSpPr>
        <p:spPr>
          <a:xfrm>
            <a:off x="4160520" y="1417320"/>
            <a:ext cx="7498079" cy="468629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Contextual help</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Every dense concept explains itself</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Portfolio distance, conviction, divergence, evidence gaps, source tiers, horizons, the lifecycle, the exploration slot. Each entry says what the thing is, why it works that way, and which requirement it comes from — so the answer is checkable rather than merely confident.</a:t>
            </a:r>
          </a:p>
        </p:txBody>
      </p:sp>
      <p:pic>
        <p:nvPicPr>
          <p:cNvPr id="7" name="Picture 6" descr="help.png"/>
          <p:cNvPicPr>
            <a:picLocks noChangeAspect="1"/>
          </p:cNvPicPr>
          <p:nvPr/>
        </p:nvPicPr>
        <p:blipFill>
          <a:blip r:embed="rId2"/>
          <a:stretch>
            <a:fillRect/>
          </a:stretch>
        </p:blipFill>
        <p:spPr>
          <a:xfrm>
            <a:off x="4160520" y="1417320"/>
            <a:ext cx="7498079" cy="4686299"/>
          </a:xfrm>
          <a:prstGeom prst="rect">
            <a:avLst/>
          </a:prstGeom>
        </p:spPr>
      </p:pic>
      <p:sp>
        <p:nvSpPr>
          <p:cNvPr id="8" name="Rectangle 7"/>
          <p:cNvSpPr/>
          <p:nvPr/>
        </p:nvSpPr>
        <p:spPr>
          <a:xfrm>
            <a:off x="4160520" y="1417320"/>
            <a:ext cx="7498079" cy="468629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ARCHITECTURE</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Seven pipeline stages, each with a contract</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Stages can be developed, tested and replaced independently.</a:t>
            </a:r>
          </a:p>
        </p:txBody>
      </p:sp>
      <p:sp>
        <p:nvSpPr>
          <p:cNvPr id="6" name="Rectangle 5"/>
          <p:cNvSpPr/>
          <p:nvPr/>
        </p:nvSpPr>
        <p:spPr>
          <a:xfrm>
            <a:off x="685800" y="2148840"/>
            <a:ext cx="1316736" cy="141732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1 Collect</a:t>
            </a:r>
          </a:p>
        </p:txBody>
      </p:sp>
      <p:sp>
        <p:nvSpPr>
          <p:cNvPr id="8" name="TextBox 7"/>
          <p:cNvSpPr txBox="1"/>
          <p:nvPr/>
        </p:nvSpPr>
        <p:spPr>
          <a:xfrm>
            <a:off x="795528"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connectors</a:t>
            </a:r>
          </a:p>
        </p:txBody>
      </p:sp>
      <p:sp>
        <p:nvSpPr>
          <p:cNvPr id="9" name="TextBox 8"/>
          <p:cNvSpPr txBox="1"/>
          <p:nvPr/>
        </p:nvSpPr>
        <p:spPr>
          <a:xfrm>
            <a:off x="795528"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source config → raw items</a:t>
            </a:r>
          </a:p>
        </p:txBody>
      </p:sp>
      <p:sp>
        <p:nvSpPr>
          <p:cNvPr id="10" name="Rectangle 9"/>
          <p:cNvSpPr/>
          <p:nvPr/>
        </p:nvSpPr>
        <p:spPr>
          <a:xfrm>
            <a:off x="2048256" y="2148840"/>
            <a:ext cx="1316736" cy="141732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7984"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2 Normalise</a:t>
            </a:r>
          </a:p>
        </p:txBody>
      </p:sp>
      <p:sp>
        <p:nvSpPr>
          <p:cNvPr id="12" name="TextBox 11"/>
          <p:cNvSpPr txBox="1"/>
          <p:nvPr/>
        </p:nvSpPr>
        <p:spPr>
          <a:xfrm>
            <a:off x="2157984"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ingest</a:t>
            </a:r>
          </a:p>
        </p:txBody>
      </p:sp>
      <p:sp>
        <p:nvSpPr>
          <p:cNvPr id="13" name="TextBox 12"/>
          <p:cNvSpPr txBox="1"/>
          <p:nvPr/>
        </p:nvSpPr>
        <p:spPr>
          <a:xfrm>
            <a:off x="2157984"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raw items → signal records</a:t>
            </a:r>
          </a:p>
        </p:txBody>
      </p:sp>
      <p:sp>
        <p:nvSpPr>
          <p:cNvPr id="14" name="Rectangle 13"/>
          <p:cNvSpPr/>
          <p:nvPr/>
        </p:nvSpPr>
        <p:spPr>
          <a:xfrm>
            <a:off x="3410712" y="2148840"/>
            <a:ext cx="1316736" cy="141732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3 Classify</a:t>
            </a:r>
          </a:p>
        </p:txBody>
      </p:sp>
      <p:sp>
        <p:nvSpPr>
          <p:cNvPr id="16" name="TextBox 15"/>
          <p:cNvSpPr txBox="1"/>
          <p:nvPr/>
        </p:nvSpPr>
        <p:spPr>
          <a:xfrm>
            <a:off x="3520440"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ingest</a:t>
            </a:r>
          </a:p>
        </p:txBody>
      </p:sp>
      <p:sp>
        <p:nvSpPr>
          <p:cNvPr id="17" name="TextBox 16"/>
          <p:cNvSpPr txBox="1"/>
          <p:nvPr/>
        </p:nvSpPr>
        <p:spPr>
          <a:xfrm>
            <a:off x="3520440"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 typed, tiered signals</a:t>
            </a:r>
          </a:p>
        </p:txBody>
      </p:sp>
      <p:sp>
        <p:nvSpPr>
          <p:cNvPr id="18" name="Rectangle 17"/>
          <p:cNvSpPr/>
          <p:nvPr/>
        </p:nvSpPr>
        <p:spPr>
          <a:xfrm>
            <a:off x="4773168" y="2148840"/>
            <a:ext cx="1316736" cy="141732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82896"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4 Themes</a:t>
            </a:r>
          </a:p>
        </p:txBody>
      </p:sp>
      <p:sp>
        <p:nvSpPr>
          <p:cNvPr id="20" name="TextBox 19"/>
          <p:cNvSpPr txBox="1"/>
          <p:nvPr/>
        </p:nvSpPr>
        <p:spPr>
          <a:xfrm>
            <a:off x="4882896"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themes</a:t>
            </a:r>
          </a:p>
        </p:txBody>
      </p:sp>
      <p:sp>
        <p:nvSpPr>
          <p:cNvPr id="21" name="TextBox 20"/>
          <p:cNvSpPr txBox="1"/>
          <p:nvPr/>
        </p:nvSpPr>
        <p:spPr>
          <a:xfrm>
            <a:off x="4882896"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 theme clusters</a:t>
            </a:r>
          </a:p>
        </p:txBody>
      </p:sp>
      <p:sp>
        <p:nvSpPr>
          <p:cNvPr id="22" name="Rectangle 21"/>
          <p:cNvSpPr/>
          <p:nvPr/>
        </p:nvSpPr>
        <p:spPr>
          <a:xfrm>
            <a:off x="6135624" y="2148840"/>
            <a:ext cx="1316736" cy="141732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5352" y="2295144"/>
            <a:ext cx="1097280" cy="365760"/>
          </a:xfrm>
          <a:prstGeom prst="rect">
            <a:avLst/>
          </a:prstGeom>
          <a:noFill/>
        </p:spPr>
        <p:txBody>
          <a:bodyPr wrap="square" anchor="t" lIns="0" rIns="0" tIns="0" bIns="0">
            <a:spAutoFit/>
          </a:bodyPr>
          <a:lstStyle/>
          <a:p>
            <a:pPr algn="l">
              <a:lnSpc>
                <a:spcPct val="118000"/>
              </a:lnSpc>
            </a:pPr>
            <a:r>
              <a:rPr sz="1150" b="1">
                <a:solidFill>
                  <a:srgbClr val="FFFFFF"/>
                </a:solidFill>
                <a:latin typeface="Helvetica Neue"/>
              </a:rPr>
              <a:t>5 Synthesise</a:t>
            </a:r>
          </a:p>
        </p:txBody>
      </p:sp>
      <p:sp>
        <p:nvSpPr>
          <p:cNvPr id="24" name="TextBox 23"/>
          <p:cNvSpPr txBox="1"/>
          <p:nvPr/>
        </p:nvSpPr>
        <p:spPr>
          <a:xfrm>
            <a:off x="6245352"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synthesis</a:t>
            </a:r>
          </a:p>
        </p:txBody>
      </p:sp>
      <p:sp>
        <p:nvSpPr>
          <p:cNvPr id="25" name="TextBox 24"/>
          <p:cNvSpPr txBox="1"/>
          <p:nvPr/>
        </p:nvSpPr>
        <p:spPr>
          <a:xfrm>
            <a:off x="6245352" y="2935224"/>
            <a:ext cx="1097280" cy="548640"/>
          </a:xfrm>
          <a:prstGeom prst="rect">
            <a:avLst/>
          </a:prstGeom>
          <a:noFill/>
        </p:spPr>
        <p:txBody>
          <a:bodyPr wrap="square" anchor="t" lIns="0" rIns="0" tIns="0" bIns="0">
            <a:spAutoFit/>
          </a:bodyPr>
          <a:lstStyle/>
          <a:p>
            <a:pPr algn="l">
              <a:lnSpc>
                <a:spcPct val="120000"/>
              </a:lnSpc>
            </a:pPr>
            <a:r>
              <a:rPr sz="900" b="0">
                <a:solidFill>
                  <a:srgbClr val="C3C2B7"/>
                </a:solidFill>
                <a:latin typeface="Helvetica Neue"/>
              </a:rPr>
              <a:t>→ candidate spaces</a:t>
            </a:r>
          </a:p>
        </p:txBody>
      </p:sp>
      <p:sp>
        <p:nvSpPr>
          <p:cNvPr id="26" name="Rectangle 25"/>
          <p:cNvSpPr/>
          <p:nvPr/>
        </p:nvSpPr>
        <p:spPr>
          <a:xfrm>
            <a:off x="7498080" y="2148840"/>
            <a:ext cx="1316736" cy="141732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2295144"/>
            <a:ext cx="1097280" cy="365760"/>
          </a:xfrm>
          <a:prstGeom prst="rect">
            <a:avLst/>
          </a:prstGeom>
          <a:noFill/>
        </p:spPr>
        <p:txBody>
          <a:bodyPr wrap="square" anchor="t" lIns="0" rIns="0" tIns="0" bIns="0">
            <a:spAutoFit/>
          </a:bodyPr>
          <a:lstStyle/>
          <a:p>
            <a:pPr algn="l">
              <a:lnSpc>
                <a:spcPct val="118000"/>
              </a:lnSpc>
            </a:pPr>
            <a:r>
              <a:rPr sz="1150" b="1">
                <a:solidFill>
                  <a:srgbClr val="FFFFFF"/>
                </a:solidFill>
                <a:latin typeface="Helvetica Neue"/>
              </a:rPr>
              <a:t>5b Enrich</a:t>
            </a:r>
          </a:p>
        </p:txBody>
      </p:sp>
      <p:sp>
        <p:nvSpPr>
          <p:cNvPr id="28" name="TextBox 27"/>
          <p:cNvSpPr txBox="1"/>
          <p:nvPr/>
        </p:nvSpPr>
        <p:spPr>
          <a:xfrm>
            <a:off x="7607808"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enrich</a:t>
            </a:r>
          </a:p>
        </p:txBody>
      </p:sp>
      <p:sp>
        <p:nvSpPr>
          <p:cNvPr id="29" name="TextBox 28"/>
          <p:cNvSpPr txBox="1"/>
          <p:nvPr/>
        </p:nvSpPr>
        <p:spPr>
          <a:xfrm>
            <a:off x="7607808" y="2935224"/>
            <a:ext cx="1097280" cy="548640"/>
          </a:xfrm>
          <a:prstGeom prst="rect">
            <a:avLst/>
          </a:prstGeom>
          <a:noFill/>
        </p:spPr>
        <p:txBody>
          <a:bodyPr wrap="square" anchor="t" lIns="0" rIns="0" tIns="0" bIns="0">
            <a:spAutoFit/>
          </a:bodyPr>
          <a:lstStyle/>
          <a:p>
            <a:pPr algn="l">
              <a:lnSpc>
                <a:spcPct val="120000"/>
              </a:lnSpc>
            </a:pPr>
            <a:r>
              <a:rPr sz="900" b="0">
                <a:solidFill>
                  <a:srgbClr val="C3C2B7"/>
                </a:solidFill>
                <a:latin typeface="Helvetica Neue"/>
              </a:rPr>
              <a:t>→ more evidence per topic</a:t>
            </a:r>
          </a:p>
        </p:txBody>
      </p:sp>
      <p:sp>
        <p:nvSpPr>
          <p:cNvPr id="30" name="Rectangle 29"/>
          <p:cNvSpPr/>
          <p:nvPr/>
        </p:nvSpPr>
        <p:spPr>
          <a:xfrm>
            <a:off x="8860536" y="2148840"/>
            <a:ext cx="1316736" cy="141732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70264" y="2295144"/>
            <a:ext cx="1097280" cy="365760"/>
          </a:xfrm>
          <a:prstGeom prst="rect">
            <a:avLst/>
          </a:prstGeom>
          <a:noFill/>
        </p:spPr>
        <p:txBody>
          <a:bodyPr wrap="square" anchor="t" lIns="0" rIns="0" tIns="0" bIns="0">
            <a:spAutoFit/>
          </a:bodyPr>
          <a:lstStyle/>
          <a:p>
            <a:pPr algn="l">
              <a:lnSpc>
                <a:spcPct val="118000"/>
              </a:lnSpc>
            </a:pPr>
            <a:r>
              <a:rPr sz="1150" b="1">
                <a:solidFill>
                  <a:srgbClr val="FFFFFF"/>
                </a:solidFill>
                <a:latin typeface="Helvetica Neue"/>
              </a:rPr>
              <a:t>6 Score</a:t>
            </a:r>
          </a:p>
        </p:txBody>
      </p:sp>
      <p:sp>
        <p:nvSpPr>
          <p:cNvPr id="32" name="TextBox 31"/>
          <p:cNvSpPr txBox="1"/>
          <p:nvPr/>
        </p:nvSpPr>
        <p:spPr>
          <a:xfrm>
            <a:off x="8970264"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graph + scoring</a:t>
            </a:r>
          </a:p>
        </p:txBody>
      </p:sp>
      <p:sp>
        <p:nvSpPr>
          <p:cNvPr id="33" name="TextBox 32"/>
          <p:cNvSpPr txBox="1"/>
          <p:nvPr/>
        </p:nvSpPr>
        <p:spPr>
          <a:xfrm>
            <a:off x="8970264" y="2935224"/>
            <a:ext cx="1097280" cy="548640"/>
          </a:xfrm>
          <a:prstGeom prst="rect">
            <a:avLst/>
          </a:prstGeom>
          <a:noFill/>
        </p:spPr>
        <p:txBody>
          <a:bodyPr wrap="square" anchor="t" lIns="0" rIns="0" tIns="0" bIns="0">
            <a:spAutoFit/>
          </a:bodyPr>
          <a:lstStyle/>
          <a:p>
            <a:pPr algn="l">
              <a:lnSpc>
                <a:spcPct val="120000"/>
              </a:lnSpc>
            </a:pPr>
            <a:r>
              <a:rPr sz="900" b="0">
                <a:solidFill>
                  <a:srgbClr val="C3C2B7"/>
                </a:solidFill>
                <a:latin typeface="Helvetica Neue"/>
              </a:rPr>
              <a:t>→ ranked spaces</a:t>
            </a:r>
          </a:p>
        </p:txBody>
      </p:sp>
      <p:sp>
        <p:nvSpPr>
          <p:cNvPr id="34" name="Rectangle 33"/>
          <p:cNvSpPr/>
          <p:nvPr/>
        </p:nvSpPr>
        <p:spPr>
          <a:xfrm>
            <a:off x="10222992" y="2148840"/>
            <a:ext cx="1316736" cy="141732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0"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7 Serve</a:t>
            </a:r>
          </a:p>
        </p:txBody>
      </p:sp>
      <p:sp>
        <p:nvSpPr>
          <p:cNvPr id="36" name="TextBox 35"/>
          <p:cNvSpPr txBox="1"/>
          <p:nvPr/>
        </p:nvSpPr>
        <p:spPr>
          <a:xfrm>
            <a:off x="10332720"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readmodel + api</a:t>
            </a:r>
          </a:p>
        </p:txBody>
      </p:sp>
      <p:sp>
        <p:nvSpPr>
          <p:cNvPr id="37" name="TextBox 36"/>
          <p:cNvSpPr txBox="1"/>
          <p:nvPr/>
        </p:nvSpPr>
        <p:spPr>
          <a:xfrm>
            <a:off x="10332720"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 radar, briefs, API</a:t>
            </a:r>
          </a:p>
        </p:txBody>
      </p:sp>
      <p:sp>
        <p:nvSpPr>
          <p:cNvPr id="38" name="TextBox 37"/>
          <p:cNvSpPr txBox="1"/>
          <p:nvPr/>
        </p:nvSpPr>
        <p:spPr>
          <a:xfrm>
            <a:off x="685800" y="3931920"/>
            <a:ext cx="10881360" cy="36576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A parallel, slower path maintains the Orange Business Graph</a:t>
            </a:r>
          </a:p>
        </p:txBody>
      </p:sp>
      <p:sp>
        <p:nvSpPr>
          <p:cNvPr id="39" name="TextBox 38"/>
          <p:cNvSpPr txBox="1"/>
          <p:nvPr/>
        </p:nvSpPr>
        <p:spPr>
          <a:xfrm>
            <a:off x="685800" y="4297680"/>
            <a:ext cx="10881360" cy="822960"/>
          </a:xfrm>
          <a:prstGeom prst="rect">
            <a:avLst/>
          </a:prstGeom>
          <a:noFill/>
        </p:spPr>
        <p:txBody>
          <a:bodyPr wrap="square" anchor="t" lIns="0" rIns="0" tIns="0" bIns="0">
            <a:spAutoFit/>
          </a:bodyPr>
          <a:lstStyle/>
          <a:p>
            <a:pPr algn="l">
              <a:lnSpc>
                <a:spcPct val="135000"/>
              </a:lnSpc>
            </a:pPr>
            <a:r>
              <a:rPr sz="1250" b="0">
                <a:solidFill>
                  <a:srgbClr val="6B6963"/>
                </a:solidFill>
                <a:latin typeface="Helvetica Neue"/>
              </a:rPr>
              <a:t>Offers, references, partners with tiers, certifications, analyst positions, capability pools and research assets. It joins at stage 6, so right-to-win can be improved without re-running discovery. Links are typed L0–L4 and carry the evidence that justified them.</a:t>
            </a:r>
          </a:p>
        </p:txBody>
      </p:sp>
      <p:sp>
        <p:nvSpPr>
          <p:cNvPr id="40" name="TextBox 39"/>
          <p:cNvSpPr txBox="1"/>
          <p:nvPr/>
        </p:nvSpPr>
        <p:spPr>
          <a:xfrm>
            <a:off x="685800" y="534924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Collection runs in parallel — twelve sources in about forty-five seconds — while database writes stay serial, because deduplication is a read-modify-write over the whole signal table.</a:t>
            </a:r>
          </a:p>
        </p:txBody>
      </p:sp>
      <p:sp>
        <p:nvSpPr>
          <p:cNvPr id="41" name="TextBox 40"/>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42" name="TextBox 41"/>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ARCHITECTURE</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Stack and separation of concerns</a:t>
            </a:r>
          </a:p>
        </p:txBody>
      </p:sp>
      <p:sp>
        <p:nvSpPr>
          <p:cNvPr id="5" name="Rectangle 4"/>
          <p:cNvSpPr/>
          <p:nvPr/>
        </p:nvSpPr>
        <p:spPr>
          <a:xfrm>
            <a:off x="685800" y="1737360"/>
            <a:ext cx="3520440" cy="32004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737360"/>
            <a:ext cx="3520440" cy="6400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011680"/>
            <a:ext cx="3008376"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INGESTION</a:t>
            </a:r>
          </a:p>
        </p:txBody>
      </p:sp>
      <p:sp>
        <p:nvSpPr>
          <p:cNvPr id="8" name="TextBox 7"/>
          <p:cNvSpPr txBox="1"/>
          <p:nvPr/>
        </p:nvSpPr>
        <p:spPr>
          <a:xfrm>
            <a:off x="941832" y="2395728"/>
            <a:ext cx="3008376" cy="2377440"/>
          </a:xfrm>
          <a:prstGeom prst="rect">
            <a:avLst/>
          </a:prstGeom>
          <a:noFill/>
        </p:spPr>
        <p:txBody>
          <a:bodyPr wrap="square" anchor="t" lIns="0" rIns="0" tIns="0" bIns="0">
            <a:spAutoFit/>
          </a:bodyPr>
          <a:lstStyle/>
          <a:p>
            <a:pPr algn="l">
              <a:lnSpc>
                <a:spcPct val="132000"/>
              </a:lnSpc>
            </a:pPr>
            <a:r>
              <a:rPr sz="1150" b="0">
                <a:solidFill>
                  <a:srgbClr val="0B0B0B"/>
                </a:solidFill>
                <a:latin typeface="Helvetica Neue"/>
              </a:rPr>
              <a:t>19 connectors: TED, BOAMP, UK Contracts,
EUR-Lex SPARQL, Have-your-say, GDELT,
news RSS (EN/FR), Hacker News, OpenAlex,
Crossref, arXiv, CORDIS, NIST, CERT-FR
Parallel fetch · circuit breaker ·
per-host pacing · replay-safe dates</a:t>
            </a:r>
          </a:p>
        </p:txBody>
      </p:sp>
      <p:sp>
        <p:nvSpPr>
          <p:cNvPr id="9" name="Rectangle 8"/>
          <p:cNvSpPr/>
          <p:nvPr/>
        </p:nvSpPr>
        <p:spPr>
          <a:xfrm>
            <a:off x="4462272" y="1737360"/>
            <a:ext cx="3520440" cy="32004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62272" y="1737360"/>
            <a:ext cx="3520440" cy="6400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18304" y="2011680"/>
            <a:ext cx="3008376"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INTELLIGENCE</a:t>
            </a:r>
          </a:p>
        </p:txBody>
      </p:sp>
      <p:sp>
        <p:nvSpPr>
          <p:cNvPr id="12" name="TextBox 11"/>
          <p:cNvSpPr txBox="1"/>
          <p:nvPr/>
        </p:nvSpPr>
        <p:spPr>
          <a:xfrm>
            <a:off x="4718304" y="2395728"/>
            <a:ext cx="3008376" cy="2377440"/>
          </a:xfrm>
          <a:prstGeom prst="rect">
            <a:avLst/>
          </a:prstGeom>
          <a:noFill/>
        </p:spPr>
        <p:txBody>
          <a:bodyPr wrap="square" anchor="t" lIns="0" rIns="0" tIns="0" bIns="0">
            <a:spAutoFit/>
          </a:bodyPr>
          <a:lstStyle/>
          <a:p>
            <a:pPr algn="l">
              <a:lnSpc>
                <a:spcPct val="132000"/>
              </a:lnSpc>
            </a:pPr>
            <a:r>
              <a:rPr sz="1150" b="0">
                <a:solidFill>
                  <a:srgbClr val="0B0B0B"/>
                </a:solidFill>
                <a:latin typeface="Helvetica Neue"/>
              </a:rPr>
              <a:t>DeepSeek behind a provider-agnostic
client (swap to Ollama via .env alone)
Local sentence-transformers for
embeddings and clustering
Deterministic where possible,
generative only where it earns its place</a:t>
            </a:r>
          </a:p>
        </p:txBody>
      </p:sp>
      <p:sp>
        <p:nvSpPr>
          <p:cNvPr id="13" name="Rectangle 12"/>
          <p:cNvSpPr/>
          <p:nvPr/>
        </p:nvSpPr>
        <p:spPr>
          <a:xfrm>
            <a:off x="8238744" y="1737360"/>
            <a:ext cx="3520440" cy="32004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38744" y="1737360"/>
            <a:ext cx="3520440" cy="6400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94776" y="2011680"/>
            <a:ext cx="3008376"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SERVING</a:t>
            </a:r>
          </a:p>
        </p:txBody>
      </p:sp>
      <p:sp>
        <p:nvSpPr>
          <p:cNvPr id="16" name="TextBox 15"/>
          <p:cNvSpPr txBox="1"/>
          <p:nvPr/>
        </p:nvSpPr>
        <p:spPr>
          <a:xfrm>
            <a:off x="8494776" y="2395728"/>
            <a:ext cx="3008376" cy="2377440"/>
          </a:xfrm>
          <a:prstGeom prst="rect">
            <a:avLst/>
          </a:prstGeom>
          <a:noFill/>
        </p:spPr>
        <p:txBody>
          <a:bodyPr wrap="square" anchor="t" lIns="0" rIns="0" tIns="0" bIns="0">
            <a:spAutoFit/>
          </a:bodyPr>
          <a:lstStyle/>
          <a:p>
            <a:pPr algn="l">
              <a:lnSpc>
                <a:spcPct val="132000"/>
              </a:lnSpc>
            </a:pPr>
            <a:r>
              <a:rPr sz="1150" b="0">
                <a:solidFill>
                  <a:srgbClr val="0B0B0B"/>
                </a:solidFill>
                <a:latin typeface="Helvetica Neue"/>
              </a:rPr>
              <a:t>SQLite — the graph is thousands of
nodes, not millions
FastAPI read API
React + Vite + TypeScript
Hand-drawn SVG radar, no chart library</a:t>
            </a:r>
          </a:p>
        </p:txBody>
      </p:sp>
      <p:sp>
        <p:nvSpPr>
          <p:cNvPr id="17" name="TextBox 16"/>
          <p:cNvSpPr txBox="1"/>
          <p:nvPr/>
        </p:nvSpPr>
        <p:spPr>
          <a:xfrm>
            <a:off x="685800" y="5212080"/>
            <a:ext cx="10881360" cy="731520"/>
          </a:xfrm>
          <a:prstGeom prst="rect">
            <a:avLst/>
          </a:prstGeom>
          <a:noFill/>
        </p:spPr>
        <p:txBody>
          <a:bodyPr wrap="square" anchor="t" lIns="0" rIns="0" tIns="0" bIns="0">
            <a:spAutoFit/>
          </a:bodyPr>
          <a:lstStyle/>
          <a:p>
            <a:pPr algn="l">
              <a:lnSpc>
                <a:spcPct val="135000"/>
              </a:lnSpc>
            </a:pPr>
            <a:r>
              <a:rPr sz="1250" b="0">
                <a:solidFill>
                  <a:srgbClr val="6B6963"/>
                </a:solidFill>
                <a:latin typeface="Helvetica Neue"/>
              </a:rPr>
              <a:t>Taxonomies, weights, thresholds, sources, the business graph and the crosswalks are all configuration, not code — and are validated at load time, so a dangling id is a startup error rather than a wrong number three stages later.</a:t>
            </a:r>
          </a:p>
        </p:txBody>
      </p:sp>
      <p:sp>
        <p:nvSpPr>
          <p:cNvPr id="18" name="TextBox 17"/>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9" name="TextBox 18"/>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ARCHITECTURE</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What makes the numbers defensible</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The governing constraint: if a user cannot explain why a topic is ranked where it is, the scoring is not good enough.</a:t>
            </a:r>
          </a:p>
        </p:txBody>
      </p:sp>
      <p:sp>
        <p:nvSpPr>
          <p:cNvPr id="6" name="Rectangle 5"/>
          <p:cNvSpPr/>
          <p:nvPr/>
        </p:nvSpPr>
        <p:spPr>
          <a:xfrm>
            <a:off x="685800" y="22037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1488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Decomposable</a:t>
            </a:r>
          </a:p>
        </p:txBody>
      </p:sp>
      <p:sp>
        <p:nvSpPr>
          <p:cNvPr id="8" name="TextBox 7"/>
          <p:cNvSpPr txBox="1"/>
          <p:nvPr/>
        </p:nvSpPr>
        <p:spPr>
          <a:xfrm>
            <a:off x="905256" y="24231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Every displayed number breaks into named components; no opaque scores.</a:t>
            </a:r>
          </a:p>
        </p:txBody>
      </p:sp>
      <p:sp>
        <p:nvSpPr>
          <p:cNvPr id="9" name="Rectangle 8"/>
          <p:cNvSpPr/>
          <p:nvPr/>
        </p:nvSpPr>
        <p:spPr>
          <a:xfrm>
            <a:off x="6355080" y="22037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4536" y="21488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Reproducible</a:t>
            </a:r>
          </a:p>
        </p:txBody>
      </p:sp>
      <p:sp>
        <p:nvSpPr>
          <p:cNvPr id="11" name="TextBox 10"/>
          <p:cNvSpPr txBox="1"/>
          <p:nvPr/>
        </p:nvSpPr>
        <p:spPr>
          <a:xfrm>
            <a:off x="6574536" y="24231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Every component stores the inputs used to compute it, so any number can be re-derived.</a:t>
            </a:r>
          </a:p>
        </p:txBody>
      </p:sp>
      <p:sp>
        <p:nvSpPr>
          <p:cNvPr id="12" name="Rectangle 11"/>
          <p:cNvSpPr/>
          <p:nvPr/>
        </p:nvSpPr>
        <p:spPr>
          <a:xfrm>
            <a:off x="685800" y="31181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0632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Traceable</a:t>
            </a:r>
          </a:p>
        </p:txBody>
      </p:sp>
      <p:sp>
        <p:nvSpPr>
          <p:cNvPr id="14" name="TextBox 13"/>
          <p:cNvSpPr txBox="1"/>
          <p:nvPr/>
        </p:nvSpPr>
        <p:spPr>
          <a:xfrm>
            <a:off x="905256" y="33375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Full lineage from a displayed claim back to the raw ingested item, including prompt and model version.</a:t>
            </a:r>
          </a:p>
        </p:txBody>
      </p:sp>
      <p:sp>
        <p:nvSpPr>
          <p:cNvPr id="15" name="Rectangle 14"/>
          <p:cNvSpPr/>
          <p:nvPr/>
        </p:nvSpPr>
        <p:spPr>
          <a:xfrm>
            <a:off x="6355080" y="31181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4536" y="30632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Versioned</a:t>
            </a:r>
          </a:p>
        </p:txBody>
      </p:sp>
      <p:sp>
        <p:nvSpPr>
          <p:cNvPr id="17" name="TextBox 16"/>
          <p:cNvSpPr txBox="1"/>
          <p:nvPr/>
        </p:nvSpPr>
        <p:spPr>
          <a:xfrm>
            <a:off x="6574536" y="33375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Every score records its weight set. Trajectories are never plotted across a boundary silently.</a:t>
            </a:r>
          </a:p>
        </p:txBody>
      </p:sp>
      <p:sp>
        <p:nvSpPr>
          <p:cNvPr id="18" name="Rectangle 17"/>
          <p:cNvSpPr/>
          <p:nvPr/>
        </p:nvSpPr>
        <p:spPr>
          <a:xfrm>
            <a:off x="685800" y="40325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9776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Auditable</a:t>
            </a:r>
          </a:p>
        </p:txBody>
      </p:sp>
      <p:sp>
        <p:nvSpPr>
          <p:cNvPr id="20" name="TextBox 19"/>
          <p:cNvSpPr txBox="1"/>
          <p:nvPr/>
        </p:nvSpPr>
        <p:spPr>
          <a:xfrm>
            <a:off x="905256" y="42519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A reviewer outside the project can reconstruct why any topic holds its rank.</a:t>
            </a:r>
          </a:p>
        </p:txBody>
      </p:sp>
      <p:sp>
        <p:nvSpPr>
          <p:cNvPr id="21" name="Rectangle 20"/>
          <p:cNvSpPr/>
          <p:nvPr/>
        </p:nvSpPr>
        <p:spPr>
          <a:xfrm>
            <a:off x="6355080" y="40325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74536" y="39776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Bounded</a:t>
            </a:r>
          </a:p>
        </p:txBody>
      </p:sp>
      <p:sp>
        <p:nvSpPr>
          <p:cNvPr id="23" name="TextBox 22"/>
          <p:cNvSpPr txBox="1"/>
          <p:nvPr/>
        </p:nvSpPr>
        <p:spPr>
          <a:xfrm>
            <a:off x="6574536" y="42519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Counting, diversity, recency and momentum are arithmetic — never a model. A model asked to count is unverifiable.</a:t>
            </a:r>
          </a:p>
        </p:txBody>
      </p:sp>
      <p:sp>
        <p:nvSpPr>
          <p:cNvPr id="24" name="TextBox 23"/>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5" name="TextBox 24"/>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STATUS</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What is deliberately not built — and what needs a decision</a:t>
            </a:r>
          </a:p>
        </p:txBody>
      </p:sp>
      <p:sp>
        <p:nvSpPr>
          <p:cNvPr id="5" name="TextBox 4"/>
          <p:cNvSpPr txBox="1"/>
          <p:nvPr/>
        </p:nvSpPr>
        <p:spPr>
          <a:xfrm>
            <a:off x="685800" y="1737360"/>
            <a:ext cx="539496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NOT BUILT, WITH THE REASON</a:t>
            </a:r>
          </a:p>
        </p:txBody>
      </p:sp>
      <p:sp>
        <p:nvSpPr>
          <p:cNvPr id="6" name="Rectangle 5"/>
          <p:cNvSpPr/>
          <p:nvPr/>
        </p:nvSpPr>
        <p:spPr>
          <a:xfrm>
            <a:off x="685800" y="218998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121408"/>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CRM integration  </a:t>
            </a:r>
            <a:r>
              <a:rPr sz="1250" b="0">
                <a:solidFill>
                  <a:srgbClr val="6B6963"/>
                </a:solidFill>
                <a:latin typeface="Helvetica Neue"/>
              </a:rPr>
              <a:t>deferred; public assets give a sufficient right-to-win proxy</a:t>
            </a:r>
          </a:p>
        </p:txBody>
      </p:sp>
      <p:sp>
        <p:nvSpPr>
          <p:cNvPr id="8" name="Rectangle 7"/>
          <p:cNvSpPr/>
          <p:nvPr/>
        </p:nvSpPr>
        <p:spPr>
          <a:xfrm>
            <a:off x="685800" y="2756916"/>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2688336"/>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Learned scoring models  </a:t>
            </a:r>
            <a:r>
              <a:rPr sz="1250" b="0">
                <a:solidFill>
                  <a:srgbClr val="6B6963"/>
                </a:solidFill>
                <a:latin typeface="Helvetica Neue"/>
              </a:rPr>
              <a:t>no labels exist on day one; the capture and replay harness ships instead</a:t>
            </a:r>
          </a:p>
        </p:txBody>
      </p:sp>
      <p:sp>
        <p:nvSpPr>
          <p:cNvPr id="10" name="Rectangle 9"/>
          <p:cNvSpPr/>
          <p:nvPr/>
        </p:nvSpPr>
        <p:spPr>
          <a:xfrm>
            <a:off x="685800" y="3323844"/>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3255264"/>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Patent connector  </a:t>
            </a:r>
            <a:r>
              <a:rPr sz="1250" b="0">
                <a:solidFill>
                  <a:srgbClr val="6B6963"/>
                </a:solidFill>
                <a:latin typeface="Helvetica Neue"/>
              </a:rPr>
              <a:t>needs EPO registration; technology ownership uses a portfolio-level prior</a:t>
            </a:r>
          </a:p>
        </p:txBody>
      </p:sp>
      <p:sp>
        <p:nvSpPr>
          <p:cNvPr id="12" name="Rectangle 11"/>
          <p:cNvSpPr/>
          <p:nvPr/>
        </p:nvSpPr>
        <p:spPr>
          <a:xfrm>
            <a:off x="685800" y="3890772"/>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3822192"/>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Learned ranking per role  </a:t>
            </a:r>
            <a:r>
              <a:rPr sz="1250" b="0">
                <a:solidFill>
                  <a:srgbClr val="6B6963"/>
                </a:solidFill>
                <a:latin typeface="Helvetica Neue"/>
              </a:rPr>
              <a:t>needs 300-600 expert comparisons; the capture widget ships first</a:t>
            </a:r>
          </a:p>
        </p:txBody>
      </p:sp>
      <p:sp>
        <p:nvSpPr>
          <p:cNvPr id="14" name="TextBox 13"/>
          <p:cNvSpPr txBox="1"/>
          <p:nvPr/>
        </p:nvSpPr>
        <p:spPr>
          <a:xfrm>
            <a:off x="6400800" y="1737360"/>
            <a:ext cx="5120640" cy="274320"/>
          </a:xfrm>
          <a:prstGeom prst="rect">
            <a:avLst/>
          </a:prstGeom>
          <a:noFill/>
        </p:spPr>
        <p:txBody>
          <a:bodyPr wrap="square" anchor="t" lIns="0" rIns="0" tIns="0" bIns="0">
            <a:spAutoFit/>
          </a:bodyPr>
          <a:lstStyle/>
          <a:p>
            <a:pPr algn="l">
              <a:lnSpc>
                <a:spcPct val="118000"/>
              </a:lnSpc>
            </a:pPr>
            <a:r>
              <a:rPr sz="1100" b="1">
                <a:solidFill>
                  <a:srgbClr val="D03B3B"/>
                </a:solidFill>
                <a:latin typeface="Helvetica Neue"/>
              </a:rPr>
              <a:t>NEEDS A DECISION FROM ORANGE</a:t>
            </a:r>
          </a:p>
        </p:txBody>
      </p:sp>
      <p:sp>
        <p:nvSpPr>
          <p:cNvPr id="15" name="Rectangle 14"/>
          <p:cNvSpPr/>
          <p:nvPr/>
        </p:nvSpPr>
        <p:spPr>
          <a:xfrm>
            <a:off x="6400800" y="218998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8544" y="2121408"/>
            <a:ext cx="493776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Who is the curator?  </a:t>
            </a:r>
            <a:r>
              <a:rPr sz="1250" b="0">
                <a:solidFill>
                  <a:srgbClr val="6B6963"/>
                </a:solidFill>
                <a:latin typeface="Helvetica Neue"/>
              </a:rPr>
              <a:t>2,007 links are machine-proposed and unconfirmed</a:t>
            </a:r>
          </a:p>
        </p:txBody>
      </p:sp>
      <p:sp>
        <p:nvSpPr>
          <p:cNvPr id="17" name="Rectangle 16"/>
          <p:cNvSpPr/>
          <p:nvPr/>
        </p:nvSpPr>
        <p:spPr>
          <a:xfrm>
            <a:off x="6400800" y="2756916"/>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38544" y="2688336"/>
            <a:ext cx="493776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No agriculture vertical  </a:t>
            </a:r>
            <a:r>
              <a:rPr sz="1250" b="0">
                <a:solidFill>
                  <a:srgbClr val="6B6963"/>
                </a:solidFill>
                <a:latin typeface="Helvetica Neue"/>
              </a:rPr>
              <a:t>agri topics are being forced into four other verticals</a:t>
            </a:r>
          </a:p>
        </p:txBody>
      </p:sp>
      <p:sp>
        <p:nvSpPr>
          <p:cNvPr id="19" name="Rectangle 18"/>
          <p:cNvSpPr/>
          <p:nvPr/>
        </p:nvSpPr>
        <p:spPr>
          <a:xfrm>
            <a:off x="6400800" y="3323844"/>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38544" y="3255264"/>
            <a:ext cx="493776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Terms of use  </a:t>
            </a:r>
            <a:r>
              <a:rPr sz="1250" b="0">
                <a:solidFill>
                  <a:srgbClr val="6B6963"/>
                </a:solidFill>
                <a:latin typeface="Helvetica Neue"/>
              </a:rPr>
              <a:t>unconfirmed for ten enabled sources — a Sprint 0 blocker</a:t>
            </a:r>
          </a:p>
        </p:txBody>
      </p:sp>
      <p:sp>
        <p:nvSpPr>
          <p:cNvPr id="21" name="Rectangle 20"/>
          <p:cNvSpPr/>
          <p:nvPr/>
        </p:nvSpPr>
        <p:spPr>
          <a:xfrm>
            <a:off x="6400800" y="3890772"/>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38544" y="3822192"/>
            <a:ext cx="493776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Refresh cadence  </a:t>
            </a:r>
            <a:r>
              <a:rPr sz="1250" b="0">
                <a:solidFill>
                  <a:srgbClr val="6B6963"/>
                </a:solidFill>
                <a:latin typeface="Helvetica Neue"/>
              </a:rPr>
              <a:t>drives connector design and cost more than any other choice</a:t>
            </a:r>
          </a:p>
        </p:txBody>
      </p:sp>
      <p:sp>
        <p:nvSpPr>
          <p:cNvPr id="23" name="TextBox 22"/>
          <p:cNvSpPr txBox="1"/>
          <p:nvPr/>
        </p:nvSpPr>
        <p:spPr>
          <a:xfrm>
            <a:off x="685800" y="461772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The radar reports its own gaps rather than hiding them: evidence-gap warnings, language coverage, unconfirmed links and skipped sources are all surfaced in the interface.</a:t>
            </a:r>
          </a:p>
        </p:txBody>
      </p:sp>
      <p:sp>
        <p:nvSpPr>
          <p:cNvPr id="24" name="TextBox 23"/>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5" name="TextBox 24"/>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03120"/>
            <a:ext cx="10058400" cy="822960"/>
          </a:xfrm>
          <a:prstGeom prst="rect">
            <a:avLst/>
          </a:prstGeom>
          <a:noFill/>
        </p:spPr>
        <p:txBody>
          <a:bodyPr wrap="square" anchor="t" lIns="0" rIns="0" tIns="0" bIns="0">
            <a:spAutoFit/>
          </a:bodyPr>
          <a:lstStyle/>
          <a:p>
            <a:pPr algn="l">
              <a:lnSpc>
                <a:spcPct val="118000"/>
              </a:lnSpc>
            </a:pPr>
            <a:r>
              <a:rPr sz="4000" b="1">
                <a:solidFill>
                  <a:srgbClr val="FFFFFF"/>
                </a:solidFill>
                <a:latin typeface="Helvetica Neue"/>
              </a:rPr>
              <a:t>The join is the product</a:t>
            </a:r>
          </a:p>
        </p:txBody>
      </p:sp>
      <p:sp>
        <p:nvSpPr>
          <p:cNvPr id="5" name="TextBox 4"/>
          <p:cNvSpPr txBox="1"/>
          <p:nvPr/>
        </p:nvSpPr>
        <p:spPr>
          <a:xfrm>
            <a:off x="1005840" y="3108960"/>
            <a:ext cx="9326880" cy="1280160"/>
          </a:xfrm>
          <a:prstGeom prst="rect">
            <a:avLst/>
          </a:prstGeom>
          <a:noFill/>
        </p:spPr>
        <p:txBody>
          <a:bodyPr wrap="square" anchor="t" lIns="0" rIns="0" tIns="0" bIns="0">
            <a:spAutoFit/>
          </a:bodyPr>
          <a:lstStyle/>
          <a:p>
            <a:pPr algn="l">
              <a:lnSpc>
                <a:spcPct val="135000"/>
              </a:lnSpc>
            </a:pPr>
            <a:r>
              <a:rPr sz="1700" b="0">
                <a:solidFill>
                  <a:srgbClr val="C3C2B7"/>
                </a:solidFill>
                <a:latin typeface="Helvetica Neue"/>
              </a:rPr>
              <a:t>Without it the radar is a competent trend feed, and trend feeds already exist. With it, the radar answers a question nobody else can answer for Orange.</a:t>
            </a:r>
          </a:p>
        </p:txBody>
      </p:sp>
      <p:sp>
        <p:nvSpPr>
          <p:cNvPr id="6" name="TextBox 5"/>
          <p:cNvSpPr txBox="1"/>
          <p:nvPr/>
        </p:nvSpPr>
        <p:spPr>
          <a:xfrm>
            <a:off x="1005840" y="4663440"/>
            <a:ext cx="10058400" cy="365760"/>
          </a:xfrm>
          <a:prstGeom prst="rect">
            <a:avLst/>
          </a:prstGeom>
          <a:noFill/>
        </p:spPr>
        <p:txBody>
          <a:bodyPr wrap="square" anchor="t" lIns="0" rIns="0" tIns="0" bIns="0">
            <a:spAutoFit/>
          </a:bodyPr>
          <a:lstStyle/>
          <a:p>
            <a:pPr algn="l">
              <a:lnSpc>
                <a:spcPct val="118000"/>
              </a:lnSpc>
            </a:pPr>
            <a:r>
              <a:rPr sz="1300" b="0">
                <a:solidFill>
                  <a:srgbClr val="F07000"/>
                </a:solidFill>
                <a:latin typeface="Menlo"/>
              </a:rPr>
              <a:t>174 opportunity spaces  ·  4,658 signals  ·  18 live sources  ·  2,007 named asset links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